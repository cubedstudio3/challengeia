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B3C49"/>
                </a:solidFill>
                <a:latin typeface="Calibri"/>
              </a:defRPr>
            </a:pPr>
            <a:r>
              <a:rPr sz="1200" b="0" i="0" u="none" strike="noStrike">
                <a:solidFill>
                  <a:srgbClr val="0B3C49"/>
                </a:solidFill>
                <a:latin typeface="Calibri"/>
              </a:rPr>
              <a:t>Costo por resultado · indicador actions:lead</a:t>
            </a:r>
          </a:p>
        </c:rich>
      </c:tx>
      <c:layout/>
      <c:overlay val="0"/>
    </c:title>
    <c:autoTitleDeleted val="0"/>
    <c:plotArea>
      <c:layout/>
      <c:barChart>
        <c:barDir val="bar"/>
        <c:grouping val="clustered"/>
        <c:varyColors val="0"/>
        <c:ser>
          <c:idx val="0"/>
          <c:order val="0"/>
          <c:tx>
            <c:strRef>
              <c:f>Sheet1!$B$1</c:f>
              <c:strCache>
                <c:ptCount val="1"/>
                <c:pt idx="0">
                  <c:v>Costo por resultado (USD)</c:v>
                </c:pt>
              </c:strCache>
            </c:strRef>
          </c:tx>
          <c:spPr>
            <a:solidFill>
              <a:srgbClr val="1C7293"/>
            </a:solidFill>
            <a:effectLst/>
          </c:spPr>
          <c:invertIfNegative val="0"/>
          <c:dLbls>
            <c:numFmt formatCode="$0.00" sourceLinked="0"/>
            <c:txPr>
              <a:bodyPr/>
              <a:lstStyle/>
              <a:p>
                <a:pPr>
                  <a:defRPr b="0" i="0" strike="noStrike" sz="1000" u="none">
                    <a:solidFill>
                      <a:srgbClr val="1A2B31"/>
                    </a:solidFill>
                    <a:latin typeface="Calibri"/>
                  </a:defRPr>
                </a:pPr>
              </a:p>
            </c:txPr>
            <c:showLegendKey val="0"/>
            <c:showVal val="1"/>
            <c:showCatName val="0"/>
            <c:showSerName val="0"/>
            <c:showPercent val="0"/>
            <c:showBubbleSize val="0"/>
            <c:showLeaderLines val="0"/>
          </c:dLbls>
          <c:cat>
            <c:multiLvlStrRef>
              <c:f>Sheet1!$A$2:$A$5</c:f>
              <c:multiLvlStrCache>
                <c:ptCount val="4"/>
                <c:lvl>
                  <c:pt idx="0">
                    <c:v>Punto de Venta SV</c:v>
                  </c:pt>
                  <c:pt idx="1">
                    <c:v>Punto de Venta GT</c:v>
                  </c:pt>
                  <c:pt idx="2">
                    <c:v>Qpaypro Guatemala Nueva</c:v>
                  </c:pt>
                  <c:pt idx="3">
                    <c:v>Qpayshop e Integraciones</c:v>
                  </c:pt>
                </c:lvl>
              </c:multiLvlStrCache>
            </c:multiLvlStrRef>
          </c:cat>
          <c:val>
            <c:numRef>
              <c:f>Sheet1!$B$2:$B$5</c:f>
              <c:numCache>
                <c:formatCode>General</c:formatCode>
                <c:ptCount val="4"/>
                <c:pt idx="0">
                  <c:v>1.89</c:v>
                </c:pt>
                <c:pt idx="1">
                  <c:v>2.1</c:v>
                </c:pt>
                <c:pt idx="2">
                  <c:v>4.01</c:v>
                </c:pt>
                <c:pt idx="3">
                  <c:v>4.43</c:v>
                </c:pt>
              </c:numCache>
            </c:numRef>
          </c:val>
        </c:ser>
        <c:dLbls>
          <c:numFmt formatCode="$0.00" sourceLinked="0"/>
          <c:txPr>
            <a:bodyPr/>
            <a:lstStyle/>
            <a:p>
              <a:pPr>
                <a:defRPr b="0" i="0" strike="noStrike" sz="1000" u="none">
                  <a:solidFill>
                    <a:srgbClr val="1A2B31"/>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5A6B72"/>
                </a:solidFill>
                <a:latin typeface="Calibri"/>
              </a:defRPr>
            </a:pPr>
            <a:endParaRPr lang="en-US"/>
          </a:p>
        </c:txPr>
        <c:crossAx val="2094734552"/>
        <c:crosses val="autoZero"/>
        <c:auto val="1"/>
        <c:lblAlgn val="ctr"/>
        <c:noMultiLvlLbl val="1"/>
      </c:catAx>
      <c:valAx>
        <c:axId val="2094734552"/>
        <c:scaling>
          <c:orientation val="minMax"/>
          <c:max val="6"/>
        </c:scaling>
        <c:delete val="0"/>
        <c:axPos val="b"/>
        <c:majorGridlines>
          <c:spPr>
            <a:ln w="12700" cap="flat">
              <a:solidFill>
                <a:srgbClr val="D9E2E5"/>
              </a:solidFill>
              <a:prstDash val="solid"/>
              <a:round/>
            </a:ln>
          </c:spPr>
        </c:majorGridlines>
        <c:numFmt formatCode="$0.00" sourceLinked="0"/>
        <c:majorTickMark val="out"/>
        <c:minorTickMark val="none"/>
        <c:tickLblPos val="low"/>
        <c:spPr>
          <a:ln w="12700" cap="flat">
            <a:solidFill>
              <a:srgbClr val="888888"/>
            </a:solidFill>
            <a:prstDash val="solid"/>
            <a:round/>
          </a:ln>
        </c:spPr>
        <c:txPr>
          <a:bodyPr/>
          <a:lstStyle/>
          <a:p>
            <a:pPr>
              <a:defRPr sz="900" b="0" i="0" u="none" strike="noStrike">
                <a:solidFill>
                  <a:srgbClr val="5A6B72"/>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B3C49"/>
                </a:solidFill>
                <a:latin typeface="Calibri"/>
              </a:defRPr>
            </a:pPr>
            <a:r>
              <a:rPr sz="1200" b="0" i="0" u="none" strike="noStrike">
                <a:solidFill>
                  <a:srgbClr val="0B3C49"/>
                </a:solidFill>
                <a:latin typeface="Calibri"/>
              </a:rPr>
              <a:t>Reparto de la presión real · GT</a:t>
            </a:r>
          </a:p>
        </c:rich>
      </c:tx>
      <c:layout/>
      <c:overlay val="0"/>
    </c:title>
    <c:autoTitleDeleted val="0"/>
    <c:plotArea>
      <c:layout/>
      <c:doughnutChart>
        <c:varyColors val="1"/>
        <c:ser>
          <c:idx val="0"/>
          <c:order val="0"/>
          <c:tx>
            <c:strRef>
              <c:f>Sheet1!$B$1</c:f>
              <c:strCache>
                <c:ptCount val="1"/>
                <c:pt idx="0">
                  <c:v>Presión real</c:v>
                </c:pt>
              </c:strCache>
            </c:strRef>
          </c:tx>
          <c:spPr>
            <a:solidFill>
              <a:schemeClr val="accent1"/>
            </a:solidFill>
            <a:ln w="9525" cap="flat">
              <a:solidFill>
                <a:srgbClr val="F9F9F9"/>
              </a:solidFill>
              <a:prstDash val="solid"/>
              <a:round/>
            </a:ln>
            <a:effectLst/>
          </c:spPr>
          <c:dPt>
            <c:idx val="0"/>
            <c:bubble3D val="0"/>
            <c:spPr>
              <a:solidFill>
                <a:srgbClr val="1C7293"/>
              </a:solidFill>
              <a:effectLst/>
            </c:spPr>
          </c:dPt>
          <c:dPt>
            <c:idx val="1"/>
            <c:bubble3D val="0"/>
            <c:spPr>
              <a:solidFill>
                <a:srgbClr val="02C39A"/>
              </a:solidFill>
              <a:effectLst/>
            </c:spPr>
          </c:dPt>
          <c:dPt>
            <c:idx val="2"/>
            <c:bubble3D val="0"/>
            <c:spPr>
              <a:solidFill>
                <a:srgbClr val="E8A33D"/>
              </a:solidFill>
              <a:effectLst/>
            </c:spPr>
          </c:dPt>
          <c:dPt>
            <c:idx val="3"/>
            <c:bubble3D val="0"/>
            <c:spPr>
              <a:solidFill>
                <a:srgbClr val="B85042"/>
              </a:solidFill>
              <a:effectLst/>
            </c:spPr>
          </c:dPt>
          <c:dLbls>
            <c:dLbl>
              <c:idx val="0"/>
              <c:numFmt formatCode="General" sourceLinked="0"/>
              <c:spPr/>
              <c:txPr>
                <a:bodyPr/>
                <a:lstStyle/>
                <a:p>
                  <a:pPr>
                    <a:defRPr sz="1100" b="0" i="0" u="none" strike="noStrike">
                      <a:solidFill>
                        <a:srgbClr val="FFFFFF"/>
                      </a:solidFill>
                      <a:latin typeface="Calibri"/>
                    </a:defRPr>
                  </a:pPr>
                </a:p>
              </c:txPr>
              <c:showLegendKey val="0"/>
              <c:showVal val="1"/>
              <c:showCatName val="0"/>
              <c:showSerName val="0"/>
              <c:showPercent val="0"/>
              <c:showBubbleSize val="0"/>
            </c:dLbl>
            <c:dLbl>
              <c:idx val="1"/>
              <c:numFmt formatCode="General" sourceLinked="0"/>
              <c:spPr/>
              <c:txPr>
                <a:bodyPr/>
                <a:lstStyle/>
                <a:p>
                  <a:pPr>
                    <a:defRPr sz="1100" b="0" i="0" u="none" strike="noStrike">
                      <a:solidFill>
                        <a:srgbClr val="FFFFFF"/>
                      </a:solidFill>
                      <a:latin typeface="Calibri"/>
                    </a:defRPr>
                  </a:pPr>
                </a:p>
              </c:txPr>
              <c:showLegendKey val="0"/>
              <c:showVal val="1"/>
              <c:showCatName val="0"/>
              <c:showSerName val="0"/>
              <c:showPercent val="0"/>
              <c:showBubbleSize val="0"/>
            </c:dLbl>
            <c:dLbl>
              <c:idx val="2"/>
              <c:numFmt formatCode="General" sourceLinked="0"/>
              <c:spPr/>
              <c:txPr>
                <a:bodyPr/>
                <a:lstStyle/>
                <a:p>
                  <a:pPr>
                    <a:defRPr sz="1100" b="0" i="0" u="none" strike="noStrike">
                      <a:solidFill>
                        <a:srgbClr val="FFFFFF"/>
                      </a:solidFill>
                      <a:latin typeface="Calibri"/>
                    </a:defRPr>
                  </a:pPr>
                </a:p>
              </c:txPr>
              <c:showLegendKey val="0"/>
              <c:showVal val="1"/>
              <c:showCatName val="0"/>
              <c:showSerName val="0"/>
              <c:showPercent val="0"/>
              <c:showBubbleSize val="0"/>
            </c:dLbl>
            <c:dLbl>
              <c:idx val="3"/>
              <c:numFmt formatCode="General" sourceLinked="0"/>
              <c:spPr/>
              <c:txPr>
                <a:bodyPr/>
                <a:lstStyle/>
                <a:p>
                  <a:pPr>
                    <a:defRPr sz="1100" b="0" i="0" u="none" strike="noStrike">
                      <a:solidFill>
                        <a:srgbClr val="FFFFFF"/>
                      </a:solidFill>
                      <a:latin typeface="Calibri"/>
                    </a:defRPr>
                  </a:pPr>
                </a:p>
              </c:txPr>
              <c:showLegendKey val="0"/>
              <c:showVal val="1"/>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Paggo</c:v>
                </c:pt>
                <c:pt idx="1">
                  <c:v>Recurrente</c:v>
                </c:pt>
                <c:pt idx="2">
                  <c:v>GuatePOS</c:v>
                </c:pt>
                <c:pt idx="3">
                  <c:v>Banco Industrial (BI)</c:v>
                </c:pt>
              </c:strCache>
            </c:strRef>
          </c:cat>
          <c:val>
            <c:numRef>
              <c:f>Sheet1!$B$2:$B$5</c:f>
              <c:numCache>
                <c:ptCount val="4"/>
                <c:pt idx="0">
                  <c:v>31</c:v>
                </c:pt>
                <c:pt idx="1">
                  <c:v>6</c:v>
                </c:pt>
                <c:pt idx="2">
                  <c:v>3</c:v>
                </c:pt>
                <c:pt idx="3">
                  <c:v>2</c:v>
                </c:pt>
              </c:numCache>
            </c:numRef>
          </c:val>
        </c:ser>
        <c:firstSliceAng val="0"/>
        <c:holeSize val="52"/>
      </c:doughnutChart>
      <c:spPr>
        <a:noFill/>
        <a:ln>
          <a:noFill/>
        </a:ln>
        <a:effectLst/>
      </c:spPr>
    </c:plotArea>
    <c:legend>
      <c:legendPos val="b"/>
      <c:overlay val="0"/>
      <c:txPr>
        <a:bodyPr/>
        <a:lstStyle/>
        <a:p>
          <a:pPr>
            <a:defRPr sz="1000">
              <a:solidFill>
                <a:srgbClr val="1A2B31"/>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Corrida 2026-08-01 a 2026-08-24. Verificación de la semana anterior: No aplicable: no existe corrida de la semana anterior. No es un dato faltante, es la primera corrida.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Brecha de eficiencia entre campañas
Dentro del indicador 'actions:lead', la campaña más costosa paga 2.34x lo que paga la más eficiente.
El mayor presupuesto no está en la campaña más eficiente
'Campaña Qpaypro Guatemala Nueva' concentra el mayor gasto pero ocupa el puesto 3 de 4 en eficiencia.
Costo de oportunidad del periodo
Las demás campañas del indicador gastaron $765.49 y obtuvieron 265 resultados. Al costo de 'Campaña Punto de Venta SV' ese mismo dinero equivale a 405.
Es aritmética sobre el periodo medido, NO un pronóstico. La diferencia de costo puede venir de público, creativo, producto o etapa del embudo. Sirve para dimensionar la pregunta, no para prometer el resultado.
SV sin disputa medida
Ninguno de los competidores medidos (Paggo, Recurrente, GuatePOS) tiene anuncios activos en SV, y ahí ya hay inversión propia con resultados.
Solo se midieron los competidores del registro curado. La ausencia de ellos no prueba ausencia de toda competencia.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Paggo concentra su mensaje
74% de los anuncios observados de Paggo usan el titular "Gestiona tu Negocio Fácil".
Paggo está escalando ahora
68% del inventario activo observado de Paggo se lanzó en los últimos 10 días. No es un estado estable.
Recurrente concentra su mensaje
50% de los anuncios observados de Recurrente usan el titular "Recibe pagos con oro digital".
GuatePOS concentra su mensaje
67% de los anuncios observados de GuatePOS usan el titular "api.whatsapp.com".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Revisar la campaña con mayor oportunidad de reasignación
'Campaña Qpaypro Guatemala Nueva [GT]' gastó $380.68 a $4.01 = 95 resultados. Al costo de 'Campaña Punto de Venta SV [SV]' ($1.89) ese mismo monto equivale a 201, 106 más. Se eligió esta campaña por mayor oportunidad absoluta, no por peor costo unitario
El equivalente es aritmética sobre el periodo medido, no un pronóstico. Antes de mover dinero hay que descartar que la diferencia venga de público, producto o etapa del embudo.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C49"/>
        </a:solidFill>
      </p:bgPr>
    </p:bg>
    <p:spTree>
      <p:nvGrpSpPr>
        <p:cNvPr id="1" name=""/>
        <p:cNvGrpSpPr/>
        <p:nvPr/>
      </p:nvGrpSpPr>
      <p:grpSpPr>
        <a:xfrm>
          <a:off x="0" y="0"/>
          <a:ext cx="0" cy="0"/>
          <a:chOff x="0" y="0"/>
          <a:chExt cx="0" cy="0"/>
        </a:xfrm>
      </p:grpSpPr>
      <p:sp>
        <p:nvSpPr>
          <p:cNvPr id="2" name="Text 0"/>
          <p:cNvSpPr txBox="1"/>
          <p:nvPr/>
        </p:nvSpPr>
        <p:spPr>
          <a:xfrm>
            <a:off x="548640" y="1371600"/>
            <a:ext cx="11064240" cy="365760"/>
          </a:xfrm>
          <a:prstGeom prst="rect">
            <a:avLst/>
          </a:prstGeom>
          <a:noFill/>
          <a:ln/>
        </p:spPr>
        <p:txBody>
          <a:bodyPr wrap="square" lIns="0" tIns="0" rIns="0" bIns="0" rtlCol="0" anchor="ctr"/>
          <a:lstStyle/>
          <a:p>
            <a:pPr indent="0" marL="0">
              <a:buNone/>
            </a:pPr>
            <a:r>
              <a:rPr lang="en-US" sz="1300" b="1" spc="400" kern="0" dirty="0">
                <a:solidFill>
                  <a:srgbClr val="02C39A"/>
                </a:solidFill>
                <a:latin typeface="Calibri" pitchFamily="34" charset="0"/>
                <a:ea typeface="Calibri" pitchFamily="34" charset="-122"/>
                <a:cs typeface="Calibri" pitchFamily="34" charset="-120"/>
              </a:rPr>
              <a:t>MESA CREATIVA</a:t>
            </a:r>
            <a:endParaRPr lang="en-US" sz="1300" dirty="0"/>
          </a:p>
        </p:txBody>
      </p:sp>
      <p:sp>
        <p:nvSpPr>
          <p:cNvPr id="3" name="Text 1"/>
          <p:cNvSpPr txBox="1"/>
          <p:nvPr/>
        </p:nvSpPr>
        <p:spPr>
          <a:xfrm>
            <a:off x="548640" y="1783080"/>
            <a:ext cx="6949440" cy="1554480"/>
          </a:xfrm>
          <a:prstGeom prst="rect">
            <a:avLst/>
          </a:prstGeom>
          <a:noFill/>
          <a:ln/>
        </p:spPr>
        <p:txBody>
          <a:bodyPr wrap="square" lIns="0" tIns="0" rIns="0" bIns="0" rtlCol="0" anchor="ctr"/>
          <a:lstStyle/>
          <a:p>
            <a:pPr indent="0" marL="0">
              <a:lnSpc>
                <a:spcPts val="4600"/>
              </a:lnSpc>
              <a:buNone/>
            </a:pPr>
            <a:r>
              <a:rPr lang="en-US" sz="4400" b="1" dirty="0">
                <a:solidFill>
                  <a:srgbClr val="FFFFFF"/>
                </a:solidFill>
                <a:latin typeface="Cambria" pitchFamily="34" charset="0"/>
                <a:ea typeface="Cambria" pitchFamily="34" charset="-122"/>
                <a:cs typeface="Cambria" pitchFamily="34" charset="-120"/>
              </a:rPr>
              <a:t>Base estratégica de la</a:t>
            </a:r>
            <a:endParaRPr lang="en-US" sz="4400" dirty="0"/>
          </a:p>
          <a:p>
            <a:pPr indent="0" marL="0">
              <a:lnSpc>
                <a:spcPts val="4600"/>
              </a:lnSpc>
              <a:buNone/>
            </a:pPr>
            <a:r>
              <a:rPr lang="en-US" sz="4400" b="1" dirty="0">
                <a:solidFill>
                  <a:srgbClr val="FFFFFF"/>
                </a:solidFill>
                <a:latin typeface="Cambria" pitchFamily="34" charset="0"/>
                <a:ea typeface="Cambria" pitchFamily="34" charset="-122"/>
                <a:cs typeface="Cambria" pitchFamily="34" charset="-120"/>
              </a:rPr>
              <a:t>reunión creativa</a:t>
            </a:r>
            <a:endParaRPr lang="en-US" sz="4400" dirty="0"/>
          </a:p>
        </p:txBody>
      </p:sp>
      <p:sp>
        <p:nvSpPr>
          <p:cNvPr id="4" name="Text 2"/>
          <p:cNvSpPr txBox="1"/>
          <p:nvPr/>
        </p:nvSpPr>
        <p:spPr>
          <a:xfrm>
            <a:off x="548640" y="3429000"/>
            <a:ext cx="6949440" cy="292608"/>
          </a:xfrm>
          <a:prstGeom prst="rect">
            <a:avLst/>
          </a:prstGeom>
          <a:noFill/>
          <a:ln/>
        </p:spPr>
        <p:txBody>
          <a:bodyPr wrap="square" lIns="0" tIns="0" rIns="0" bIns="0" rtlCol="0" anchor="ctr"/>
          <a:lstStyle/>
          <a:p>
            <a:pPr indent="0" marL="0">
              <a:buNone/>
            </a:pPr>
            <a:r>
              <a:rPr lang="en-US" sz="1500" dirty="0">
                <a:solidFill>
                  <a:srgbClr val="9DB7BF"/>
                </a:solidFill>
                <a:latin typeface="Calibri" pitchFamily="34" charset="0"/>
                <a:ea typeface="Calibri" pitchFamily="34" charset="-122"/>
                <a:cs typeface="Calibri" pitchFamily="34" charset="-120"/>
              </a:rPr>
              <a:t>Periodo analizado · 2026-08-01 a 2026-08-24</a:t>
            </a:r>
            <a:endParaRPr lang="en-US" sz="1500" dirty="0"/>
          </a:p>
        </p:txBody>
      </p:sp>
      <p:sp>
        <p:nvSpPr>
          <p:cNvPr id="5" name="Shape 3"/>
          <p:cNvSpPr/>
          <p:nvPr/>
        </p:nvSpPr>
        <p:spPr>
          <a:xfrm>
            <a:off x="548640" y="3886200"/>
            <a:ext cx="2286000" cy="365760"/>
          </a:xfrm>
          <a:prstGeom prst="roundRect">
            <a:avLst>
              <a:gd name="adj" fmla="val 50000"/>
            </a:avLst>
          </a:prstGeom>
          <a:solidFill>
            <a:srgbClr val="0B3C49"/>
          </a:solidFill>
          <a:ln w="19050">
            <a:solidFill>
              <a:srgbClr val="E8A33D"/>
            </a:solidFill>
            <a:prstDash val="solid"/>
          </a:ln>
        </p:spPr>
      </p:sp>
      <p:sp>
        <p:nvSpPr>
          <p:cNvPr id="6" name="Text 4"/>
          <p:cNvSpPr txBox="1"/>
          <p:nvPr/>
        </p:nvSpPr>
        <p:spPr>
          <a:xfrm>
            <a:off x="548640" y="3886200"/>
            <a:ext cx="2286000" cy="365760"/>
          </a:xfrm>
          <a:prstGeom prst="rect">
            <a:avLst/>
          </a:prstGeom>
          <a:noFill/>
          <a:ln/>
        </p:spPr>
        <p:txBody>
          <a:bodyPr wrap="square" lIns="0" tIns="0" rIns="0" bIns="0" rtlCol="0" anchor="ctr"/>
          <a:lstStyle/>
          <a:p>
            <a:pPr algn="ctr" indent="0" marL="0">
              <a:buNone/>
            </a:pPr>
            <a:r>
              <a:rPr lang="en-US" sz="1000" b="1" dirty="0">
                <a:solidFill>
                  <a:srgbClr val="E8A33D"/>
                </a:solidFill>
                <a:latin typeface="Calibri" pitchFamily="34" charset="0"/>
                <a:ea typeface="Calibri" pitchFamily="34" charset="-122"/>
                <a:cs typeface="Calibri" pitchFamily="34" charset="-120"/>
              </a:rPr>
              <a:t>MODO DRY-RUN</a:t>
            </a:r>
            <a:endParaRPr lang="en-US" sz="1000" dirty="0"/>
          </a:p>
        </p:txBody>
      </p:sp>
      <p:sp>
        <p:nvSpPr>
          <p:cNvPr id="7" name="Shape 5"/>
          <p:cNvSpPr/>
          <p:nvPr/>
        </p:nvSpPr>
        <p:spPr>
          <a:xfrm>
            <a:off x="7818120" y="1371600"/>
            <a:ext cx="3794760" cy="2880360"/>
          </a:xfrm>
          <a:prstGeom prst="roundRect">
            <a:avLst>
              <a:gd name="adj" fmla="val 2540"/>
            </a:avLst>
          </a:prstGeom>
          <a:solidFill>
            <a:srgbClr val="FFFFFF">
              <a:alpha val="8000"/>
            </a:srgbClr>
          </a:solidFill>
          <a:ln w="19050">
            <a:solidFill>
              <a:srgbClr val="E8A33D"/>
            </a:solidFill>
            <a:prstDash val="solid"/>
          </a:ln>
        </p:spPr>
      </p:sp>
      <p:sp>
        <p:nvSpPr>
          <p:cNvPr id="8" name="Text 6"/>
          <p:cNvSpPr txBox="1"/>
          <p:nvPr/>
        </p:nvSpPr>
        <p:spPr>
          <a:xfrm>
            <a:off x="8074152" y="1600200"/>
            <a:ext cx="3282696" cy="457200"/>
          </a:xfrm>
          <a:prstGeom prst="rect">
            <a:avLst/>
          </a:prstGeom>
          <a:noFill/>
          <a:ln/>
        </p:spPr>
        <p:txBody>
          <a:bodyPr wrap="square" lIns="0" tIns="0" rIns="0" bIns="0" rtlCol="0" anchor="ctr"/>
          <a:lstStyle/>
          <a:p>
            <a:pPr indent="0" marL="0">
              <a:buNone/>
            </a:pPr>
            <a:r>
              <a:rPr lang="en-US" sz="1100" b="1" spc="100" kern="0" dirty="0">
                <a:solidFill>
                  <a:srgbClr val="E8A33D"/>
                </a:solidFill>
                <a:latin typeface="Calibri" pitchFamily="34" charset="0"/>
                <a:ea typeface="Calibri" pitchFamily="34" charset="-122"/>
                <a:cs typeface="Calibri" pitchFamily="34" charset="-120"/>
              </a:rPr>
              <a:t>LO QUE ESTA CORRIDA NO INCLUYE</a:t>
            </a:r>
            <a:endParaRPr lang="en-US" sz="1100" dirty="0"/>
          </a:p>
        </p:txBody>
      </p:sp>
      <p:sp>
        <p:nvSpPr>
          <p:cNvPr id="9" name="Text 7"/>
          <p:cNvSpPr txBox="1"/>
          <p:nvPr/>
        </p:nvSpPr>
        <p:spPr>
          <a:xfrm>
            <a:off x="8074152" y="2103120"/>
            <a:ext cx="3282696" cy="1920240"/>
          </a:xfrm>
          <a:prstGeom prst="rect">
            <a:avLst/>
          </a:prstGeom>
          <a:noFill/>
          <a:ln/>
        </p:spPr>
        <p:txBody>
          <a:bodyPr wrap="square" lIns="0" tIns="0" rIns="0" bIns="0" rtlCol="0" anchor="t"/>
          <a:lstStyle/>
          <a:p>
            <a:pPr marL="342900" indent="-342900">
              <a:buSzPct val="100000"/>
              <a:buChar char="•"/>
            </a:pPr>
            <a:r>
              <a:rPr lang="en-US" sz="1100" b="1" dirty="0">
                <a:solidFill>
                  <a:srgbClr val="FFFFFF"/>
                </a:solidFill>
                <a:latin typeface="Calibri" pitchFamily="34" charset="0"/>
                <a:ea typeface="Calibri" pitchFamily="34" charset="-122"/>
                <a:cs typeface="Calibri" pitchFamily="34" charset="-120"/>
              </a:rPr>
              <a:t>métricas orgánicas de Página e Instagram</a:t>
            </a:r>
            <a:endParaRPr lang="en-US" sz="1100" dirty="0"/>
          </a:p>
          <a:p>
            <a:pPr lvl="1" indent="0" marL="0">
              <a:spcAft>
                <a:spcPts val="1000"/>
              </a:spcAft>
              <a:buNone/>
            </a:pPr>
            <a:r>
              <a:rPr lang="en-US" sz="1050" dirty="0">
                <a:solidFill>
                  <a:srgbClr val="9DB7BF"/>
                </a:solidFill>
                <a:latin typeface="Calibri" pitchFamily="34" charset="0"/>
                <a:ea typeface="Calibri" pitchFamily="34" charset="-122"/>
                <a:cs typeface="Calibri" pitchFamily="34" charset="-120"/>
              </a:rPr>
              <a:t>No hay captura manual para este periodo.</a:t>
            </a:r>
            <a:endParaRPr lang="en-US" sz="1100" dirty="0"/>
          </a:p>
        </p:txBody>
      </p:sp>
      <p:sp>
        <p:nvSpPr>
          <p:cNvPr id="10" name="Text 8"/>
          <p:cNvSpPr txBox="1"/>
          <p:nvPr/>
        </p:nvSpPr>
        <p:spPr>
          <a:xfrm>
            <a:off x="8074152" y="3877056"/>
            <a:ext cx="3282696" cy="237744"/>
          </a:xfrm>
          <a:prstGeom prst="rect">
            <a:avLst/>
          </a:prstGeom>
          <a:noFill/>
          <a:ln/>
        </p:spPr>
        <p:txBody>
          <a:bodyPr wrap="square" lIns="0" tIns="0" rIns="0" bIns="0" rtlCol="0" anchor="ctr"/>
          <a:lstStyle/>
          <a:p>
            <a:pPr indent="0" marL="0">
              <a:buNone/>
            </a:pPr>
            <a:r>
              <a:rPr lang="en-US" sz="1000" i="1" dirty="0">
                <a:solidFill>
                  <a:srgbClr val="E8A33D"/>
                </a:solidFill>
                <a:latin typeface="Calibri" pitchFamily="34" charset="0"/>
                <a:ea typeface="Calibri" pitchFamily="34" charset="-122"/>
                <a:cs typeface="Calibri" pitchFamily="34" charset="-120"/>
              </a:rPr>
              <a:t>Se declara, no se rellena.</a:t>
            </a:r>
            <a:endParaRPr lang="en-US" sz="1000" dirty="0"/>
          </a:p>
        </p:txBody>
      </p:sp>
      <p:sp>
        <p:nvSpPr>
          <p:cNvPr id="11" name="Text 9"/>
          <p:cNvSpPr txBox="1"/>
          <p:nvPr/>
        </p:nvSpPr>
        <p:spPr>
          <a:xfrm>
            <a:off x="548640" y="5943600"/>
            <a:ext cx="11064240" cy="274320"/>
          </a:xfrm>
          <a:prstGeom prst="rect">
            <a:avLst/>
          </a:prstGeom>
          <a:noFill/>
          <a:ln/>
        </p:spPr>
        <p:txBody>
          <a:bodyPr wrap="square" lIns="0" tIns="0" rIns="0" bIns="0" rtlCol="0" anchor="ctr"/>
          <a:lstStyle/>
          <a:p>
            <a:pPr indent="0" marL="0">
              <a:buNone/>
            </a:pPr>
            <a:r>
              <a:rPr lang="en-US" sz="1100" i="1" dirty="0">
                <a:solidFill>
                  <a:srgbClr val="9DB7BF"/>
                </a:solidFill>
                <a:latin typeface="Calibri" pitchFamily="34" charset="0"/>
                <a:ea typeface="Calibri" pitchFamily="34" charset="-122"/>
                <a:cs typeface="Calibri" pitchFamily="34" charset="-120"/>
              </a:rPr>
              <a:t>Cada cifra de este documento es trazable hasta la consulta que la produjo.</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8"/>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219456"/>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ANTES DE CREERLE A UN NÚMERO</a:t>
            </a:r>
            <a:endParaRPr lang="en-US" sz="1100" dirty="0"/>
          </a:p>
        </p:txBody>
      </p:sp>
      <p:sp>
        <p:nvSpPr>
          <p:cNvPr id="3" name="Text 1"/>
          <p:cNvSpPr txBox="1"/>
          <p:nvPr/>
        </p:nvSpPr>
        <p:spPr>
          <a:xfrm>
            <a:off x="548640" y="621792"/>
            <a:ext cx="11064240" cy="566928"/>
          </a:xfrm>
          <a:prstGeom prst="rect">
            <a:avLst/>
          </a:prstGeom>
          <a:noFill/>
          <a:ln/>
        </p:spPr>
        <p:txBody>
          <a:bodyPr wrap="square" lIns="0" tIns="0" rIns="0" bIns="0" rtlCol="0" anchor="ctr"/>
          <a:lstStyle/>
          <a:p>
            <a:pPr indent="0" marL="0">
              <a:buNone/>
            </a:pPr>
            <a:r>
              <a:rPr lang="en-US" sz="3400" b="1" dirty="0">
                <a:solidFill>
                  <a:srgbClr val="0B3C49"/>
                </a:solidFill>
                <a:latin typeface="Cambria" pitchFamily="34" charset="0"/>
                <a:ea typeface="Cambria" pitchFamily="34" charset="-122"/>
                <a:cs typeface="Cambria" pitchFamily="34" charset="-120"/>
              </a:rPr>
              <a:t>Integridad de los datos</a:t>
            </a:r>
            <a:endParaRPr lang="en-US" sz="3400" dirty="0"/>
          </a:p>
        </p:txBody>
      </p:sp>
      <p:sp>
        <p:nvSpPr>
          <p:cNvPr id="4" name="Shape 2"/>
          <p:cNvSpPr/>
          <p:nvPr/>
        </p:nvSpPr>
        <p:spPr>
          <a:xfrm>
            <a:off x="548640" y="1463040"/>
            <a:ext cx="2606040" cy="1417320"/>
          </a:xfrm>
          <a:prstGeom prst="roundRect">
            <a:avLst>
              <a:gd name="adj" fmla="val 5161"/>
            </a:avLst>
          </a:prstGeom>
          <a:solidFill>
            <a:srgbClr val="FFFFFF"/>
          </a:solidFill>
          <a:ln w="12700">
            <a:solidFill>
              <a:srgbClr val="D9E2E5"/>
            </a:solidFill>
            <a:prstDash val="solid"/>
          </a:ln>
          <a:effectLst>
            <a:outerShdw sx="100000" sy="100000" kx="0" ky="0" algn="bl" rotWithShape="0" blurRad="101600" dist="12700" dir="5400000">
              <a:srgbClr val="000000">
                <a:alpha val="6000"/>
              </a:srgbClr>
            </a:outerShdw>
          </a:effectLst>
        </p:spPr>
      </p:sp>
      <p:sp>
        <p:nvSpPr>
          <p:cNvPr id="5" name="Text 3"/>
          <p:cNvSpPr txBox="1"/>
          <p:nvPr/>
        </p:nvSpPr>
        <p:spPr>
          <a:xfrm>
            <a:off x="768096" y="1627632"/>
            <a:ext cx="2167128" cy="658368"/>
          </a:xfrm>
          <a:prstGeom prst="rect">
            <a:avLst/>
          </a:prstGeom>
          <a:noFill/>
          <a:ln/>
        </p:spPr>
        <p:txBody>
          <a:bodyPr wrap="square" lIns="0" tIns="0" rIns="0" bIns="0" rtlCol="0" anchor="ctr"/>
          <a:lstStyle/>
          <a:p>
            <a:pPr indent="0" marL="0">
              <a:buNone/>
            </a:pPr>
            <a:r>
              <a:rPr lang="en-US" sz="4000" b="1" dirty="0">
                <a:solidFill>
                  <a:srgbClr val="0B3C49"/>
                </a:solidFill>
                <a:latin typeface="Cambria" pitchFamily="34" charset="0"/>
                <a:ea typeface="Cambria" pitchFamily="34" charset="-122"/>
                <a:cs typeface="Cambria" pitchFamily="34" charset="-120"/>
              </a:rPr>
              <a:t>9</a:t>
            </a:r>
            <a:endParaRPr lang="en-US" sz="4000" dirty="0"/>
          </a:p>
        </p:txBody>
      </p:sp>
      <p:sp>
        <p:nvSpPr>
          <p:cNvPr id="6" name="Text 4"/>
          <p:cNvSpPr txBox="1"/>
          <p:nvPr/>
        </p:nvSpPr>
        <p:spPr>
          <a:xfrm>
            <a:off x="768096" y="2340864"/>
            <a:ext cx="2167128" cy="420624"/>
          </a:xfrm>
          <a:prstGeom prst="rect">
            <a:avLst/>
          </a:prstGeom>
          <a:noFill/>
          <a:ln/>
        </p:spPr>
        <p:txBody>
          <a:bodyPr wrap="square" lIns="0" tIns="0" rIns="0" bIns="0" rtlCol="0" anchor="ctr"/>
          <a:lstStyle/>
          <a:p>
            <a:pPr indent="0" marL="0">
              <a:buNone/>
            </a:pPr>
            <a:r>
              <a:rPr lang="en-US" sz="1100" dirty="0">
                <a:solidFill>
                  <a:srgbClr val="5A6B72"/>
                </a:solidFill>
                <a:latin typeface="Calibri" pitchFamily="34" charset="0"/>
                <a:ea typeface="Calibri" pitchFamily="34" charset="-122"/>
                <a:cs typeface="Calibri" pitchFamily="34" charset="-120"/>
              </a:rPr>
              <a:t>filas campaña×país leídas</a:t>
            </a:r>
            <a:endParaRPr lang="en-US" sz="1100" dirty="0"/>
          </a:p>
        </p:txBody>
      </p:sp>
      <p:sp>
        <p:nvSpPr>
          <p:cNvPr id="7" name="Shape 5"/>
          <p:cNvSpPr/>
          <p:nvPr/>
        </p:nvSpPr>
        <p:spPr>
          <a:xfrm>
            <a:off x="3447288" y="1463040"/>
            <a:ext cx="2606040" cy="1417320"/>
          </a:xfrm>
          <a:prstGeom prst="roundRect">
            <a:avLst>
              <a:gd name="adj" fmla="val 5161"/>
            </a:avLst>
          </a:prstGeom>
          <a:solidFill>
            <a:srgbClr val="FFFFFF"/>
          </a:solidFill>
          <a:ln w="12700">
            <a:solidFill>
              <a:srgbClr val="D9E2E5"/>
            </a:solidFill>
            <a:prstDash val="solid"/>
          </a:ln>
          <a:effectLst>
            <a:outerShdw sx="100000" sy="100000" kx="0" ky="0" algn="bl" rotWithShape="0" blurRad="101600" dist="12700" dir="5400000">
              <a:srgbClr val="000000">
                <a:alpha val="6000"/>
              </a:srgbClr>
            </a:outerShdw>
          </a:effectLst>
        </p:spPr>
      </p:sp>
      <p:sp>
        <p:nvSpPr>
          <p:cNvPr id="8" name="Text 6"/>
          <p:cNvSpPr txBox="1"/>
          <p:nvPr/>
        </p:nvSpPr>
        <p:spPr>
          <a:xfrm>
            <a:off x="3666744" y="1627632"/>
            <a:ext cx="2167128" cy="658368"/>
          </a:xfrm>
          <a:prstGeom prst="rect">
            <a:avLst/>
          </a:prstGeom>
          <a:noFill/>
          <a:ln/>
        </p:spPr>
        <p:txBody>
          <a:bodyPr wrap="square" lIns="0" tIns="0" rIns="0" bIns="0" rtlCol="0" anchor="ctr"/>
          <a:lstStyle/>
          <a:p>
            <a:pPr indent="0" marL="0">
              <a:buNone/>
            </a:pPr>
            <a:r>
              <a:rPr lang="en-US" sz="2600" b="1" dirty="0">
                <a:solidFill>
                  <a:srgbClr val="0B3C49"/>
                </a:solidFill>
                <a:latin typeface="Cambria" pitchFamily="34" charset="0"/>
                <a:ea typeface="Cambria" pitchFamily="34" charset="-122"/>
                <a:cs typeface="Cambria" pitchFamily="34" charset="-120"/>
              </a:rPr>
              <a:t>GT  HN  SV</a:t>
            </a:r>
            <a:endParaRPr lang="en-US" sz="2600" dirty="0"/>
          </a:p>
        </p:txBody>
      </p:sp>
      <p:sp>
        <p:nvSpPr>
          <p:cNvPr id="9" name="Text 7"/>
          <p:cNvSpPr txBox="1"/>
          <p:nvPr/>
        </p:nvSpPr>
        <p:spPr>
          <a:xfrm>
            <a:off x="3666744" y="2340864"/>
            <a:ext cx="2167128" cy="420624"/>
          </a:xfrm>
          <a:prstGeom prst="rect">
            <a:avLst/>
          </a:prstGeom>
          <a:noFill/>
          <a:ln/>
        </p:spPr>
        <p:txBody>
          <a:bodyPr wrap="square" lIns="0" tIns="0" rIns="0" bIns="0" rtlCol="0" anchor="ctr"/>
          <a:lstStyle/>
          <a:p>
            <a:pPr indent="0" marL="0">
              <a:buNone/>
            </a:pPr>
            <a:r>
              <a:rPr lang="en-US" sz="1100" dirty="0">
                <a:solidFill>
                  <a:srgbClr val="5A6B72"/>
                </a:solidFill>
                <a:latin typeface="Calibri" pitchFamily="34" charset="0"/>
                <a:ea typeface="Calibri" pitchFamily="34" charset="-122"/>
                <a:cs typeface="Calibri" pitchFamily="34" charset="-120"/>
              </a:rPr>
              <a:t>países con entrega</a:t>
            </a:r>
            <a:endParaRPr lang="en-US" sz="1100" dirty="0"/>
          </a:p>
        </p:txBody>
      </p:sp>
      <p:sp>
        <p:nvSpPr>
          <p:cNvPr id="10" name="Shape 8"/>
          <p:cNvSpPr/>
          <p:nvPr/>
        </p:nvSpPr>
        <p:spPr>
          <a:xfrm>
            <a:off x="6345936" y="1463040"/>
            <a:ext cx="2606040" cy="1417320"/>
          </a:xfrm>
          <a:prstGeom prst="roundRect">
            <a:avLst>
              <a:gd name="adj" fmla="val 5161"/>
            </a:avLst>
          </a:prstGeom>
          <a:solidFill>
            <a:srgbClr val="FFFFFF"/>
          </a:solidFill>
          <a:ln w="12700">
            <a:solidFill>
              <a:srgbClr val="D9E2E5"/>
            </a:solidFill>
            <a:prstDash val="solid"/>
          </a:ln>
          <a:effectLst>
            <a:outerShdw sx="100000" sy="100000" kx="0" ky="0" algn="bl" rotWithShape="0" blurRad="101600" dist="12700" dir="5400000">
              <a:srgbClr val="000000">
                <a:alpha val="6000"/>
              </a:srgbClr>
            </a:outerShdw>
          </a:effectLst>
        </p:spPr>
      </p:sp>
      <p:sp>
        <p:nvSpPr>
          <p:cNvPr id="11" name="Text 9"/>
          <p:cNvSpPr txBox="1"/>
          <p:nvPr/>
        </p:nvSpPr>
        <p:spPr>
          <a:xfrm>
            <a:off x="6565392" y="1627632"/>
            <a:ext cx="2167128" cy="658368"/>
          </a:xfrm>
          <a:prstGeom prst="rect">
            <a:avLst/>
          </a:prstGeom>
          <a:noFill/>
          <a:ln/>
        </p:spPr>
        <p:txBody>
          <a:bodyPr wrap="square" lIns="0" tIns="0" rIns="0" bIns="0" rtlCol="0" anchor="ctr"/>
          <a:lstStyle/>
          <a:p>
            <a:pPr indent="0" marL="0">
              <a:buNone/>
            </a:pPr>
            <a:r>
              <a:rPr lang="en-US" sz="4000" b="1" dirty="0">
                <a:solidFill>
                  <a:srgbClr val="0B3C49"/>
                </a:solidFill>
                <a:latin typeface="Cambria" pitchFamily="34" charset="0"/>
                <a:ea typeface="Cambria" pitchFamily="34" charset="-122"/>
                <a:cs typeface="Cambria" pitchFamily="34" charset="-120"/>
              </a:rPr>
              <a:t>0</a:t>
            </a:r>
            <a:endParaRPr lang="en-US" sz="4000" dirty="0"/>
          </a:p>
        </p:txBody>
      </p:sp>
      <p:sp>
        <p:nvSpPr>
          <p:cNvPr id="12" name="Text 10"/>
          <p:cNvSpPr txBox="1"/>
          <p:nvPr/>
        </p:nvSpPr>
        <p:spPr>
          <a:xfrm>
            <a:off x="6565392" y="2340864"/>
            <a:ext cx="2167128" cy="420624"/>
          </a:xfrm>
          <a:prstGeom prst="rect">
            <a:avLst/>
          </a:prstGeom>
          <a:noFill/>
          <a:ln/>
        </p:spPr>
        <p:txBody>
          <a:bodyPr wrap="square" lIns="0" tIns="0" rIns="0" bIns="0" rtlCol="0" anchor="ctr"/>
          <a:lstStyle/>
          <a:p>
            <a:pPr indent="0" marL="0">
              <a:buNone/>
            </a:pPr>
            <a:r>
              <a:rPr lang="en-US" sz="1100" dirty="0">
                <a:solidFill>
                  <a:srgbClr val="5A6B72"/>
                </a:solidFill>
                <a:latin typeface="Calibri" pitchFamily="34" charset="0"/>
                <a:ea typeface="Calibri" pitchFamily="34" charset="-122"/>
                <a:cs typeface="Calibri" pitchFamily="34" charset="-120"/>
              </a:rPr>
              <a:t>costos incoherentes</a:t>
            </a:r>
            <a:endParaRPr lang="en-US" sz="1100" dirty="0"/>
          </a:p>
        </p:txBody>
      </p:sp>
      <p:sp>
        <p:nvSpPr>
          <p:cNvPr id="13" name="Shape 11"/>
          <p:cNvSpPr/>
          <p:nvPr/>
        </p:nvSpPr>
        <p:spPr>
          <a:xfrm>
            <a:off x="9244584" y="1463040"/>
            <a:ext cx="2606040" cy="1417320"/>
          </a:xfrm>
          <a:prstGeom prst="roundRect">
            <a:avLst>
              <a:gd name="adj" fmla="val 5161"/>
            </a:avLst>
          </a:prstGeom>
          <a:solidFill>
            <a:srgbClr val="FFFFFF"/>
          </a:solidFill>
          <a:ln w="25400">
            <a:solidFill>
              <a:srgbClr val="E8A33D"/>
            </a:solidFill>
            <a:prstDash val="solid"/>
          </a:ln>
          <a:effectLst>
            <a:outerShdw sx="100000" sy="100000" kx="0" ky="0" algn="bl" rotWithShape="0" blurRad="101600" dist="12700" dir="5400000">
              <a:srgbClr val="000000">
                <a:alpha val="6000"/>
              </a:srgbClr>
            </a:outerShdw>
          </a:effectLst>
        </p:spPr>
      </p:sp>
      <p:sp>
        <p:nvSpPr>
          <p:cNvPr id="14" name="Text 12"/>
          <p:cNvSpPr txBox="1"/>
          <p:nvPr/>
        </p:nvSpPr>
        <p:spPr>
          <a:xfrm>
            <a:off x="9464040" y="1627632"/>
            <a:ext cx="2167128" cy="658368"/>
          </a:xfrm>
          <a:prstGeom prst="rect">
            <a:avLst/>
          </a:prstGeom>
          <a:noFill/>
          <a:ln/>
        </p:spPr>
        <p:txBody>
          <a:bodyPr wrap="square" lIns="0" tIns="0" rIns="0" bIns="0" rtlCol="0" anchor="ctr"/>
          <a:lstStyle/>
          <a:p>
            <a:pPr indent="0" marL="0">
              <a:buNone/>
            </a:pPr>
            <a:r>
              <a:rPr lang="en-US" sz="4000" b="1" dirty="0">
                <a:solidFill>
                  <a:srgbClr val="E8A33D"/>
                </a:solidFill>
                <a:latin typeface="Cambria" pitchFamily="34" charset="0"/>
                <a:ea typeface="Cambria" pitchFamily="34" charset="-122"/>
                <a:cs typeface="Cambria" pitchFamily="34" charset="-120"/>
              </a:rPr>
              <a:t>1</a:t>
            </a:r>
            <a:endParaRPr lang="en-US" sz="4000" dirty="0"/>
          </a:p>
        </p:txBody>
      </p:sp>
      <p:sp>
        <p:nvSpPr>
          <p:cNvPr id="15" name="Text 13"/>
          <p:cNvSpPr txBox="1"/>
          <p:nvPr/>
        </p:nvSpPr>
        <p:spPr>
          <a:xfrm>
            <a:off x="9464040" y="2340864"/>
            <a:ext cx="2167128" cy="420624"/>
          </a:xfrm>
          <a:prstGeom prst="rect">
            <a:avLst/>
          </a:prstGeom>
          <a:noFill/>
          <a:ln/>
        </p:spPr>
        <p:txBody>
          <a:bodyPr wrap="square" lIns="0" tIns="0" rIns="0" bIns="0" rtlCol="0" anchor="ctr"/>
          <a:lstStyle/>
          <a:p>
            <a:pPr indent="0" marL="0">
              <a:buNone/>
            </a:pPr>
            <a:r>
              <a:rPr lang="en-US" sz="1100" dirty="0">
                <a:solidFill>
                  <a:srgbClr val="5A6B72"/>
                </a:solidFill>
                <a:latin typeface="Calibri" pitchFamily="34" charset="0"/>
                <a:ea typeface="Calibri" pitchFamily="34" charset="-122"/>
                <a:cs typeface="Calibri" pitchFamily="34" charset="-120"/>
              </a:rPr>
              <a:t>países fuera de mercado declarado</a:t>
            </a:r>
            <a:endParaRPr lang="en-US" sz="1100" dirty="0"/>
          </a:p>
        </p:txBody>
      </p:sp>
      <p:sp>
        <p:nvSpPr>
          <p:cNvPr id="16" name="Shape 14"/>
          <p:cNvSpPr/>
          <p:nvPr/>
        </p:nvSpPr>
        <p:spPr>
          <a:xfrm>
            <a:off x="548640" y="3200400"/>
            <a:ext cx="11064240" cy="1234440"/>
          </a:xfrm>
          <a:prstGeom prst="roundRect">
            <a:avLst>
              <a:gd name="adj" fmla="val 5926"/>
            </a:avLst>
          </a:prstGeom>
          <a:solidFill>
            <a:srgbClr val="FDF3E3"/>
          </a:solidFill>
          <a:ln w="25400">
            <a:solidFill>
              <a:srgbClr val="E8A33D"/>
            </a:solidFill>
            <a:prstDash val="solid"/>
          </a:ln>
        </p:spPr>
      </p:sp>
      <p:sp>
        <p:nvSpPr>
          <p:cNvPr id="17" name="Text 15"/>
          <p:cNvSpPr txBox="1"/>
          <p:nvPr/>
        </p:nvSpPr>
        <p:spPr>
          <a:xfrm>
            <a:off x="822960" y="3383280"/>
            <a:ext cx="10515600" cy="292608"/>
          </a:xfrm>
          <a:prstGeom prst="rect">
            <a:avLst/>
          </a:prstGeom>
          <a:noFill/>
          <a:ln/>
        </p:spPr>
        <p:txBody>
          <a:bodyPr wrap="square" lIns="0" tIns="0" rIns="0" bIns="0" rtlCol="0" anchor="ctr"/>
          <a:lstStyle/>
          <a:p>
            <a:pPr indent="0" marL="0">
              <a:buNone/>
            </a:pPr>
            <a:r>
              <a:rPr lang="en-US" sz="1500" b="1" dirty="0">
                <a:solidFill>
                  <a:srgbClr val="E8A33D"/>
                </a:solidFill>
                <a:latin typeface="Calibri" pitchFamily="34" charset="0"/>
                <a:ea typeface="Calibri" pitchFamily="34" charset="-122"/>
                <a:cs typeface="Calibri" pitchFamily="34" charset="-120"/>
              </a:rPr>
              <a:t>Entrega fuera de los mercados declarados</a:t>
            </a:r>
            <a:endParaRPr lang="en-US" sz="1500" dirty="0"/>
          </a:p>
        </p:txBody>
      </p:sp>
      <p:sp>
        <p:nvSpPr>
          <p:cNvPr id="18" name="Text 16"/>
          <p:cNvSpPr txBox="1"/>
          <p:nvPr/>
        </p:nvSpPr>
        <p:spPr>
          <a:xfrm>
            <a:off x="822960" y="3730752"/>
            <a:ext cx="10515600" cy="566928"/>
          </a:xfrm>
          <a:prstGeom prst="rect">
            <a:avLst/>
          </a:prstGeom>
          <a:noFill/>
          <a:ln/>
        </p:spPr>
        <p:txBody>
          <a:bodyPr wrap="square" lIns="0" tIns="0" rIns="0" bIns="0" rtlCol="0" anchor="ctr"/>
          <a:lstStyle/>
          <a:p>
            <a:pPr indent="0" marL="0">
              <a:buNone/>
            </a:pPr>
            <a:r>
              <a:rPr lang="en-US" sz="1200" dirty="0">
                <a:solidFill>
                  <a:srgbClr val="1A2B31"/>
                </a:solidFill>
                <a:latin typeface="Calibri" pitchFamily="34" charset="0"/>
                <a:ea typeface="Calibri" pitchFamily="34" charset="-122"/>
                <a:cs typeface="Calibri" pitchFamily="34" charset="-120"/>
              </a:rPr>
              <a:t>El proyecto declara Guatemala y El Salvador. Hay gasto registrado en HN. El mercado se toma del desglose por país de la API, nunca del nombre de la campaña: se comprobó que una campaña llamada «SV» entrega también en GT y HN.</a:t>
            </a:r>
            <a:endParaRPr lang="en-US" sz="1200" dirty="0"/>
          </a:p>
        </p:txBody>
      </p:sp>
      <p:sp>
        <p:nvSpPr>
          <p:cNvPr id="19" name="Text 17"/>
          <p:cNvSpPr txBox="1"/>
          <p:nvPr/>
        </p:nvSpPr>
        <p:spPr>
          <a:xfrm>
            <a:off x="548640" y="4754880"/>
            <a:ext cx="11064240" cy="274320"/>
          </a:xfrm>
          <a:prstGeom prst="rect">
            <a:avLst/>
          </a:prstGeom>
          <a:noFill/>
          <a:ln/>
        </p:spPr>
        <p:txBody>
          <a:bodyPr wrap="square" lIns="0" tIns="0" rIns="0" bIns="0" rtlCol="0" anchor="ctr"/>
          <a:lstStyle/>
          <a:p>
            <a:pPr indent="0" marL="0">
              <a:buNone/>
            </a:pPr>
            <a:r>
              <a:rPr lang="en-US" sz="1100" b="1" spc="100" kern="0" dirty="0">
                <a:solidFill>
                  <a:srgbClr val="1C7293"/>
                </a:solidFill>
                <a:latin typeface="Calibri" pitchFamily="34" charset="0"/>
                <a:ea typeface="Calibri" pitchFamily="34" charset="-122"/>
                <a:cs typeface="Calibri" pitchFamily="34" charset="-120"/>
              </a:rPr>
              <a:t>Paso 6 · verificación de la semana anterior</a:t>
            </a:r>
            <a:endParaRPr lang="en-US" sz="1100" dirty="0"/>
          </a:p>
        </p:txBody>
      </p:sp>
      <p:sp>
        <p:nvSpPr>
          <p:cNvPr id="20" name="Text 18"/>
          <p:cNvSpPr txBox="1"/>
          <p:nvPr/>
        </p:nvSpPr>
        <p:spPr>
          <a:xfrm>
            <a:off x="548640" y="5029200"/>
            <a:ext cx="11064240" cy="457200"/>
          </a:xfrm>
          <a:prstGeom prst="rect">
            <a:avLst/>
          </a:prstGeom>
          <a:noFill/>
          <a:ln/>
        </p:spPr>
        <p:txBody>
          <a:bodyPr wrap="square" lIns="0" tIns="0" rIns="0" bIns="0" rtlCol="0" anchor="ctr"/>
          <a:lstStyle/>
          <a:p>
            <a:pPr indent="0" marL="0">
              <a:buNone/>
            </a:pPr>
            <a:r>
              <a:rPr lang="en-US" sz="1300" dirty="0">
                <a:solidFill>
                  <a:srgbClr val="1A2B31"/>
                </a:solidFill>
                <a:latin typeface="Calibri" pitchFamily="34" charset="0"/>
                <a:ea typeface="Calibri" pitchFamily="34" charset="-122"/>
                <a:cs typeface="Calibri" pitchFamily="34" charset="-120"/>
              </a:rPr>
              <a:t>No aplicable: no existe corrida de la semana anterior. No es un dato faltante, es la primera corrida.</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8"/>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219456"/>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PASO 2 · RENDIMIENTO DE PAUTA</a:t>
            </a:r>
            <a:endParaRPr lang="en-US" sz="1100" dirty="0"/>
          </a:p>
        </p:txBody>
      </p:sp>
      <p:sp>
        <p:nvSpPr>
          <p:cNvPr id="3" name="Text 1"/>
          <p:cNvSpPr txBox="1"/>
          <p:nvPr/>
        </p:nvSpPr>
        <p:spPr>
          <a:xfrm>
            <a:off x="548640" y="621792"/>
            <a:ext cx="11064240" cy="566928"/>
          </a:xfrm>
          <a:prstGeom prst="rect">
            <a:avLst/>
          </a:prstGeom>
          <a:noFill/>
          <a:ln/>
        </p:spPr>
        <p:txBody>
          <a:bodyPr wrap="square" lIns="0" tIns="0" rIns="0" bIns="0" rtlCol="0" anchor="ctr"/>
          <a:lstStyle/>
          <a:p>
            <a:pPr indent="0" marL="0">
              <a:buNone/>
            </a:pPr>
            <a:r>
              <a:rPr lang="en-US" sz="3400" b="1" dirty="0">
                <a:solidFill>
                  <a:srgbClr val="0B3C49"/>
                </a:solidFill>
                <a:latin typeface="Cambria" pitchFamily="34" charset="0"/>
                <a:ea typeface="Cambria" pitchFamily="34" charset="-122"/>
                <a:cs typeface="Cambria" pitchFamily="34" charset="-120"/>
              </a:rPr>
              <a:t>No todo se suma</a:t>
            </a:r>
            <a:endParaRPr lang="en-US" sz="3400" dirty="0"/>
          </a:p>
        </p:txBody>
      </p:sp>
      <p:sp>
        <p:nvSpPr>
          <p:cNvPr id="4" name="Text 2"/>
          <p:cNvSpPr txBox="1"/>
          <p:nvPr/>
        </p:nvSpPr>
        <p:spPr>
          <a:xfrm>
            <a:off x="548640" y="1298448"/>
            <a:ext cx="11064240" cy="365760"/>
          </a:xfrm>
          <a:prstGeom prst="rect">
            <a:avLst/>
          </a:prstGeom>
          <a:noFill/>
          <a:ln/>
        </p:spPr>
        <p:txBody>
          <a:bodyPr wrap="square" lIns="0" tIns="0" rIns="0" bIns="0" rtlCol="0" anchor="ctr"/>
          <a:lstStyle/>
          <a:p>
            <a:pPr indent="0" marL="0">
              <a:buNone/>
            </a:pPr>
            <a:r>
              <a:rPr lang="en-US" sz="1250" dirty="0">
                <a:solidFill>
                  <a:srgbClr val="5A6B72"/>
                </a:solidFill>
                <a:latin typeface="Calibri" pitchFamily="34" charset="0"/>
                <a:ea typeface="Calibri" pitchFamily="34" charset="-122"/>
                <a:cs typeface="Calibri" pitchFamily="34" charset="-120"/>
              </a:rPr>
              <a:t>El campo de resultados mide algo distinto en cada campaña. Sumar entre indicadores produce un número plausible y falso, así que cada uno se consolida por separado.</a:t>
            </a:r>
            <a:endParaRPr lang="en-US" sz="1250" dirty="0"/>
          </a:p>
        </p:txBody>
      </p:sp>
      <p:sp>
        <p:nvSpPr>
          <p:cNvPr id="5" name="Shape 3"/>
          <p:cNvSpPr/>
          <p:nvPr/>
        </p:nvSpPr>
        <p:spPr>
          <a:xfrm>
            <a:off x="548640" y="1783080"/>
            <a:ext cx="5577840" cy="786384"/>
          </a:xfrm>
          <a:prstGeom prst="roundRect">
            <a:avLst>
              <a:gd name="adj" fmla="val 6977"/>
            </a:avLst>
          </a:prstGeom>
          <a:solidFill>
            <a:srgbClr val="FFFFFF"/>
          </a:solidFill>
          <a:ln w="12700">
            <a:solidFill>
              <a:srgbClr val="D9E2E5"/>
            </a:solidFill>
            <a:prstDash val="solid"/>
          </a:ln>
        </p:spPr>
      </p:sp>
      <p:sp>
        <p:nvSpPr>
          <p:cNvPr id="6" name="Text 4"/>
          <p:cNvSpPr txBox="1"/>
          <p:nvPr/>
        </p:nvSpPr>
        <p:spPr>
          <a:xfrm>
            <a:off x="768096" y="1883664"/>
            <a:ext cx="3840480" cy="274320"/>
          </a:xfrm>
          <a:prstGeom prst="rect">
            <a:avLst/>
          </a:prstGeom>
          <a:noFill/>
          <a:ln/>
        </p:spPr>
        <p:txBody>
          <a:bodyPr wrap="square" lIns="0" tIns="0" rIns="0" bIns="0" rtlCol="0" anchor="ctr"/>
          <a:lstStyle/>
          <a:p>
            <a:pPr indent="0" marL="0">
              <a:buNone/>
            </a:pPr>
            <a:r>
              <a:rPr lang="en-US" sz="1250" b="1" dirty="0">
                <a:solidFill>
                  <a:srgbClr val="0B3C49"/>
                </a:solidFill>
                <a:latin typeface="Calibri" pitchFamily="34" charset="0"/>
                <a:ea typeface="Calibri" pitchFamily="34" charset="-122"/>
                <a:cs typeface="Calibri" pitchFamily="34" charset="-120"/>
              </a:rPr>
              <a:t>lead</a:t>
            </a:r>
            <a:endParaRPr lang="en-US" sz="1250" dirty="0"/>
          </a:p>
        </p:txBody>
      </p:sp>
      <p:sp>
        <p:nvSpPr>
          <p:cNvPr id="7" name="Text 5"/>
          <p:cNvSpPr txBox="1"/>
          <p:nvPr/>
        </p:nvSpPr>
        <p:spPr>
          <a:xfrm>
            <a:off x="768096" y="2185416"/>
            <a:ext cx="4023360" cy="274320"/>
          </a:xfrm>
          <a:prstGeom prst="rect">
            <a:avLst/>
          </a:prstGeom>
          <a:noFill/>
          <a:ln/>
        </p:spPr>
        <p:txBody>
          <a:bodyPr wrap="square" lIns="0" tIns="0" rIns="0" bIns="0" rtlCol="0" anchor="ctr"/>
          <a:lstStyle/>
          <a:p>
            <a:pPr indent="0" marL="0">
              <a:buNone/>
            </a:pPr>
            <a:r>
              <a:rPr lang="en-US" sz="1050" dirty="0">
                <a:solidFill>
                  <a:srgbClr val="5A6B72"/>
                </a:solidFill>
                <a:latin typeface="Calibri" pitchFamily="34" charset="0"/>
                <a:ea typeface="Calibri" pitchFamily="34" charset="-122"/>
                <a:cs typeface="Calibri" pitchFamily="34" charset="-120"/>
              </a:rPr>
              <a:t>370 resultados · $963.46 · 4 campaña(s) · 2 excluida(s) por hueco</a:t>
            </a:r>
            <a:endParaRPr lang="en-US" sz="1050" dirty="0"/>
          </a:p>
        </p:txBody>
      </p:sp>
      <p:sp>
        <p:nvSpPr>
          <p:cNvPr id="8" name="Text 6"/>
          <p:cNvSpPr txBox="1"/>
          <p:nvPr/>
        </p:nvSpPr>
        <p:spPr>
          <a:xfrm>
            <a:off x="4892040" y="1947672"/>
            <a:ext cx="1051560" cy="457200"/>
          </a:xfrm>
          <a:prstGeom prst="rect">
            <a:avLst/>
          </a:prstGeom>
          <a:noFill/>
          <a:ln/>
        </p:spPr>
        <p:txBody>
          <a:bodyPr wrap="square" lIns="0" tIns="0" rIns="0" bIns="0" rtlCol="0" anchor="ctr"/>
          <a:lstStyle/>
          <a:p>
            <a:pPr algn="r" indent="0" marL="0">
              <a:buNone/>
            </a:pPr>
            <a:r>
              <a:rPr lang="en-US" sz="2100" b="1" dirty="0">
                <a:solidFill>
                  <a:srgbClr val="02C39A"/>
                </a:solidFill>
                <a:latin typeface="Cambria" pitchFamily="34" charset="0"/>
                <a:ea typeface="Cambria" pitchFamily="34" charset="-122"/>
                <a:cs typeface="Cambria" pitchFamily="34" charset="-120"/>
              </a:rPr>
              <a:t>$2.60</a:t>
            </a:r>
            <a:endParaRPr lang="en-US" sz="2100" dirty="0"/>
          </a:p>
        </p:txBody>
      </p:sp>
      <p:sp>
        <p:nvSpPr>
          <p:cNvPr id="9" name="Shape 7"/>
          <p:cNvSpPr/>
          <p:nvPr/>
        </p:nvSpPr>
        <p:spPr>
          <a:xfrm>
            <a:off x="548640" y="2697480"/>
            <a:ext cx="5577840" cy="786384"/>
          </a:xfrm>
          <a:prstGeom prst="roundRect">
            <a:avLst>
              <a:gd name="adj" fmla="val 6977"/>
            </a:avLst>
          </a:prstGeom>
          <a:solidFill>
            <a:srgbClr val="FFFFFF"/>
          </a:solidFill>
          <a:ln w="12700">
            <a:solidFill>
              <a:srgbClr val="D9E2E5"/>
            </a:solidFill>
            <a:prstDash val="solid"/>
          </a:ln>
        </p:spPr>
      </p:sp>
      <p:sp>
        <p:nvSpPr>
          <p:cNvPr id="10" name="Text 8"/>
          <p:cNvSpPr txBox="1"/>
          <p:nvPr/>
        </p:nvSpPr>
        <p:spPr>
          <a:xfrm>
            <a:off x="768096" y="2798064"/>
            <a:ext cx="3840480" cy="274320"/>
          </a:xfrm>
          <a:prstGeom prst="rect">
            <a:avLst/>
          </a:prstGeom>
          <a:noFill/>
          <a:ln/>
        </p:spPr>
        <p:txBody>
          <a:bodyPr wrap="square" lIns="0" tIns="0" rIns="0" bIns="0" rtlCol="0" anchor="ctr"/>
          <a:lstStyle/>
          <a:p>
            <a:pPr indent="0" marL="0">
              <a:buNone/>
            </a:pPr>
            <a:r>
              <a:rPr lang="en-US" sz="1250" b="1" dirty="0">
                <a:solidFill>
                  <a:srgbClr val="0B3C49"/>
                </a:solidFill>
                <a:latin typeface="Calibri" pitchFamily="34" charset="0"/>
                <a:ea typeface="Calibri" pitchFamily="34" charset="-122"/>
                <a:cs typeface="Calibri" pitchFamily="34" charset="-120"/>
              </a:rPr>
              <a:t>link_click</a:t>
            </a:r>
            <a:endParaRPr lang="en-US" sz="1250" dirty="0"/>
          </a:p>
        </p:txBody>
      </p:sp>
      <p:sp>
        <p:nvSpPr>
          <p:cNvPr id="11" name="Text 9"/>
          <p:cNvSpPr txBox="1"/>
          <p:nvPr/>
        </p:nvSpPr>
        <p:spPr>
          <a:xfrm>
            <a:off x="768096" y="3099816"/>
            <a:ext cx="4023360" cy="274320"/>
          </a:xfrm>
          <a:prstGeom prst="rect">
            <a:avLst/>
          </a:prstGeom>
          <a:noFill/>
          <a:ln/>
        </p:spPr>
        <p:txBody>
          <a:bodyPr wrap="square" lIns="0" tIns="0" rIns="0" bIns="0" rtlCol="0" anchor="ctr"/>
          <a:lstStyle/>
          <a:p>
            <a:pPr indent="0" marL="0">
              <a:buNone/>
            </a:pPr>
            <a:r>
              <a:rPr lang="en-US" sz="1050" dirty="0">
                <a:solidFill>
                  <a:srgbClr val="5A6B72"/>
                </a:solidFill>
                <a:latin typeface="Calibri" pitchFamily="34" charset="0"/>
                <a:ea typeface="Calibri" pitchFamily="34" charset="-122"/>
                <a:cs typeface="Calibri" pitchFamily="34" charset="-120"/>
              </a:rPr>
              <a:t>10,771 resultados · $104.03 · 1 campaña(s)</a:t>
            </a:r>
            <a:endParaRPr lang="en-US" sz="1050" dirty="0"/>
          </a:p>
        </p:txBody>
      </p:sp>
      <p:sp>
        <p:nvSpPr>
          <p:cNvPr id="12" name="Text 10"/>
          <p:cNvSpPr txBox="1"/>
          <p:nvPr/>
        </p:nvSpPr>
        <p:spPr>
          <a:xfrm>
            <a:off x="4892040" y="2862072"/>
            <a:ext cx="1051560" cy="457200"/>
          </a:xfrm>
          <a:prstGeom prst="rect">
            <a:avLst/>
          </a:prstGeom>
          <a:noFill/>
          <a:ln/>
        </p:spPr>
        <p:txBody>
          <a:bodyPr wrap="square" lIns="0" tIns="0" rIns="0" bIns="0" rtlCol="0" anchor="ctr"/>
          <a:lstStyle/>
          <a:p>
            <a:pPr algn="r" indent="0" marL="0">
              <a:buNone/>
            </a:pPr>
            <a:r>
              <a:rPr lang="en-US" sz="2100" b="1" dirty="0">
                <a:solidFill>
                  <a:srgbClr val="02C39A"/>
                </a:solidFill>
                <a:latin typeface="Cambria" pitchFamily="34" charset="0"/>
                <a:ea typeface="Cambria" pitchFamily="34" charset="-122"/>
                <a:cs typeface="Cambria" pitchFamily="34" charset="-120"/>
              </a:rPr>
              <a:t>$0.01</a:t>
            </a:r>
            <a:endParaRPr lang="en-US" sz="2100" dirty="0"/>
          </a:p>
        </p:txBody>
      </p:sp>
      <p:sp>
        <p:nvSpPr>
          <p:cNvPr id="13" name="Shape 11"/>
          <p:cNvSpPr/>
          <p:nvPr/>
        </p:nvSpPr>
        <p:spPr>
          <a:xfrm>
            <a:off x="548640" y="3611880"/>
            <a:ext cx="5577840" cy="786384"/>
          </a:xfrm>
          <a:prstGeom prst="roundRect">
            <a:avLst>
              <a:gd name="adj" fmla="val 6977"/>
            </a:avLst>
          </a:prstGeom>
          <a:solidFill>
            <a:srgbClr val="FFFFFF"/>
          </a:solidFill>
          <a:ln w="12700">
            <a:solidFill>
              <a:srgbClr val="D9E2E5"/>
            </a:solidFill>
            <a:prstDash val="solid"/>
          </a:ln>
        </p:spPr>
      </p:sp>
      <p:sp>
        <p:nvSpPr>
          <p:cNvPr id="14" name="Text 12"/>
          <p:cNvSpPr txBox="1"/>
          <p:nvPr/>
        </p:nvSpPr>
        <p:spPr>
          <a:xfrm>
            <a:off x="768096" y="3712464"/>
            <a:ext cx="3840480" cy="274320"/>
          </a:xfrm>
          <a:prstGeom prst="rect">
            <a:avLst/>
          </a:prstGeom>
          <a:noFill/>
          <a:ln/>
        </p:spPr>
        <p:txBody>
          <a:bodyPr wrap="square" lIns="0" tIns="0" rIns="0" bIns="0" rtlCol="0" anchor="ctr"/>
          <a:lstStyle/>
          <a:p>
            <a:pPr indent="0" marL="0">
              <a:buNone/>
            </a:pPr>
            <a:r>
              <a:rPr lang="en-US" sz="1250" b="1" dirty="0">
                <a:solidFill>
                  <a:srgbClr val="0B3C49"/>
                </a:solidFill>
                <a:latin typeface="Calibri" pitchFamily="34" charset="0"/>
                <a:ea typeface="Calibri" pitchFamily="34" charset="-122"/>
                <a:cs typeface="Calibri" pitchFamily="34" charset="-120"/>
              </a:rPr>
              <a:t>QualifiedLead (evento personalizado)</a:t>
            </a:r>
            <a:endParaRPr lang="en-US" sz="1250" dirty="0"/>
          </a:p>
        </p:txBody>
      </p:sp>
      <p:sp>
        <p:nvSpPr>
          <p:cNvPr id="15" name="Text 13"/>
          <p:cNvSpPr txBox="1"/>
          <p:nvPr/>
        </p:nvSpPr>
        <p:spPr>
          <a:xfrm>
            <a:off x="768096" y="4014216"/>
            <a:ext cx="4023360" cy="274320"/>
          </a:xfrm>
          <a:prstGeom prst="rect">
            <a:avLst/>
          </a:prstGeom>
          <a:noFill/>
          <a:ln/>
        </p:spPr>
        <p:txBody>
          <a:bodyPr wrap="square" lIns="0" tIns="0" rIns="0" bIns="0" rtlCol="0" anchor="ctr"/>
          <a:lstStyle/>
          <a:p>
            <a:pPr indent="0" marL="0">
              <a:buNone/>
            </a:pPr>
            <a:r>
              <a:rPr lang="en-US" sz="1050" dirty="0">
                <a:solidFill>
                  <a:srgbClr val="5A6B72"/>
                </a:solidFill>
                <a:latin typeface="Calibri" pitchFamily="34" charset="0"/>
                <a:ea typeface="Calibri" pitchFamily="34" charset="-122"/>
                <a:cs typeface="Calibri" pitchFamily="34" charset="-120"/>
              </a:rPr>
              <a:t>1 resultados · $3.23 · 1 campaña(s)</a:t>
            </a:r>
            <a:endParaRPr lang="en-US" sz="1050" dirty="0"/>
          </a:p>
        </p:txBody>
      </p:sp>
      <p:sp>
        <p:nvSpPr>
          <p:cNvPr id="16" name="Text 14"/>
          <p:cNvSpPr txBox="1"/>
          <p:nvPr/>
        </p:nvSpPr>
        <p:spPr>
          <a:xfrm>
            <a:off x="4892040" y="3776472"/>
            <a:ext cx="1051560" cy="457200"/>
          </a:xfrm>
          <a:prstGeom prst="rect">
            <a:avLst/>
          </a:prstGeom>
          <a:noFill/>
          <a:ln/>
        </p:spPr>
        <p:txBody>
          <a:bodyPr wrap="square" lIns="0" tIns="0" rIns="0" bIns="0" rtlCol="0" anchor="ctr"/>
          <a:lstStyle/>
          <a:p>
            <a:pPr algn="r" indent="0" marL="0">
              <a:buNone/>
            </a:pPr>
            <a:r>
              <a:rPr lang="en-US" sz="2100" b="1" dirty="0">
                <a:solidFill>
                  <a:srgbClr val="02C39A"/>
                </a:solidFill>
                <a:latin typeface="Cambria" pitchFamily="34" charset="0"/>
                <a:ea typeface="Cambria" pitchFamily="34" charset="-122"/>
                <a:cs typeface="Cambria" pitchFamily="34" charset="-120"/>
              </a:rPr>
              <a:t>$3.23</a:t>
            </a:r>
            <a:endParaRPr lang="en-US" sz="2100" dirty="0"/>
          </a:p>
        </p:txBody>
      </p:sp>
      <p:graphicFrame>
        <p:nvGraphicFramePr>
          <p:cNvPr id="17" name="Chart 0" descr=""/>
          <p:cNvGraphicFramePr/>
          <p:nvPr/>
        </p:nvGraphicFramePr>
        <p:xfrm>
          <a:off x="6400800" y="1737360"/>
          <a:ext cx="5212080" cy="3108960"/>
        </p:xfrm>
        <a:graphic xmlns:a="http://schemas.openxmlformats.org/drawingml/2006/main">
          <a:graphicData uri="http://schemas.openxmlformats.org/drawingml/2006/chart">
            <c:chart xmlns:c="http://schemas.openxmlformats.org/drawingml/2006/chart" r:id="rId1"/>
          </a:graphicData>
        </a:graphic>
      </p:graphicFrame>
      <p:sp>
        <p:nvSpPr>
          <p:cNvPr id="18" name="Text 15"/>
          <p:cNvSpPr txBox="1"/>
          <p:nvPr/>
        </p:nvSpPr>
        <p:spPr>
          <a:xfrm>
            <a:off x="548640" y="5989320"/>
            <a:ext cx="11064240" cy="256032"/>
          </a:xfrm>
          <a:prstGeom prst="rect">
            <a:avLst/>
          </a:prstGeom>
          <a:noFill/>
          <a:ln/>
        </p:spPr>
        <p:txBody>
          <a:bodyPr wrap="square" lIns="0" tIns="0" rIns="0" bIns="0" rtlCol="0" anchor="ctr"/>
          <a:lstStyle/>
          <a:p>
            <a:pPr indent="0" marL="0">
              <a:buNone/>
            </a:pPr>
            <a:r>
              <a:rPr lang="en-US" sz="950" i="1" dirty="0">
                <a:solidFill>
                  <a:srgbClr val="5A6B72"/>
                </a:solidFill>
                <a:latin typeface="Calibri" pitchFamily="34" charset="0"/>
                <a:ea typeface="Calibri" pitchFamily="34" charset="-122"/>
                <a:cs typeface="Calibri" pitchFamily="34" charset="-120"/>
              </a:rPr>
              <a:t>Fuente: desglose por país de la cuenta publicitaria, rango cerrado 2026-08-01 a 2026-08-24</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8"/>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219456"/>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PASO 3 · COMPETENCIA ACTIVA</a:t>
            </a:r>
            <a:endParaRPr lang="en-US" sz="1100" dirty="0"/>
          </a:p>
        </p:txBody>
      </p:sp>
      <p:sp>
        <p:nvSpPr>
          <p:cNvPr id="3" name="Text 1"/>
          <p:cNvSpPr txBox="1"/>
          <p:nvPr/>
        </p:nvSpPr>
        <p:spPr>
          <a:xfrm>
            <a:off x="548640" y="621792"/>
            <a:ext cx="11064240" cy="566928"/>
          </a:xfrm>
          <a:prstGeom prst="rect">
            <a:avLst/>
          </a:prstGeom>
          <a:noFill/>
          <a:ln/>
        </p:spPr>
        <p:txBody>
          <a:bodyPr wrap="square" lIns="0" tIns="0" rIns="0" bIns="0" rtlCol="0" anchor="ctr"/>
          <a:lstStyle/>
          <a:p>
            <a:pPr indent="0" marL="0">
              <a:buNone/>
            </a:pPr>
            <a:r>
              <a:rPr lang="en-US" sz="3400" b="1" dirty="0">
                <a:solidFill>
                  <a:srgbClr val="0B3C49"/>
                </a:solidFill>
                <a:latin typeface="Cambria" pitchFamily="34" charset="0"/>
                <a:ea typeface="Cambria" pitchFamily="34" charset="-122"/>
                <a:cs typeface="Cambria" pitchFamily="34" charset="-120"/>
              </a:rPr>
              <a:t>Contar anuncios no mide presión</a:t>
            </a:r>
            <a:endParaRPr lang="en-US" sz="3400" dirty="0"/>
          </a:p>
        </p:txBody>
      </p:sp>
      <p:sp>
        <p:nvSpPr>
          <p:cNvPr id="4" name="Text 2"/>
          <p:cNvSpPr txBox="1"/>
          <p:nvPr/>
        </p:nvSpPr>
        <p:spPr>
          <a:xfrm>
            <a:off x="548640" y="1298448"/>
            <a:ext cx="11064240" cy="384048"/>
          </a:xfrm>
          <a:prstGeom prst="rect">
            <a:avLst/>
          </a:prstGeom>
          <a:noFill/>
          <a:ln/>
        </p:spPr>
        <p:txBody>
          <a:bodyPr wrap="square" lIns="0" tIns="0" rIns="0" bIns="0" rtlCol="0" anchor="ctr"/>
          <a:lstStyle/>
          <a:p>
            <a:pPr indent="0" marL="0">
              <a:buNone/>
            </a:pPr>
            <a:r>
              <a:rPr lang="en-US" sz="1250" dirty="0">
                <a:solidFill>
                  <a:srgbClr val="5A6B72"/>
                </a:solidFill>
                <a:latin typeface="Calibri" pitchFamily="34" charset="0"/>
                <a:ea typeface="Calibri" pitchFamily="34" charset="-122"/>
                <a:cs typeface="Calibri" pitchFamily="34" charset="-120"/>
              </a:rPr>
              <a:t>En GT, sumar los anuncios activos de todos daría 885. La presión real —solo los que disputan nuestra categoría— es 42.</a:t>
            </a:r>
            <a:endParaRPr lang="en-US" sz="1250" dirty="0"/>
          </a:p>
        </p:txBody>
      </p:sp>
      <p:sp>
        <p:nvSpPr>
          <p:cNvPr id="5" name="Shape 3"/>
          <p:cNvSpPr/>
          <p:nvPr/>
        </p:nvSpPr>
        <p:spPr>
          <a:xfrm>
            <a:off x="548640" y="1828800"/>
            <a:ext cx="5943600" cy="658368"/>
          </a:xfrm>
          <a:prstGeom prst="roundRect">
            <a:avLst>
              <a:gd name="adj" fmla="val 8333"/>
            </a:avLst>
          </a:prstGeom>
          <a:solidFill>
            <a:srgbClr val="FFFFFF"/>
          </a:solidFill>
          <a:ln w="12700">
            <a:solidFill>
              <a:srgbClr val="D9E2E5"/>
            </a:solidFill>
            <a:prstDash val="solid"/>
          </a:ln>
        </p:spPr>
      </p:sp>
      <p:sp>
        <p:nvSpPr>
          <p:cNvPr id="6" name="Text 4"/>
          <p:cNvSpPr txBox="1"/>
          <p:nvPr/>
        </p:nvSpPr>
        <p:spPr>
          <a:xfrm>
            <a:off x="749808" y="1911096"/>
            <a:ext cx="2743200" cy="274320"/>
          </a:xfrm>
          <a:prstGeom prst="rect">
            <a:avLst/>
          </a:prstGeom>
          <a:noFill/>
          <a:ln/>
        </p:spPr>
        <p:txBody>
          <a:bodyPr wrap="square" lIns="0" tIns="0" rIns="0" bIns="0" rtlCol="0" anchor="ctr"/>
          <a:lstStyle/>
          <a:p>
            <a:pPr indent="0" marL="0">
              <a:buNone/>
            </a:pPr>
            <a:r>
              <a:rPr lang="en-US" sz="1250" b="1" dirty="0">
                <a:solidFill>
                  <a:srgbClr val="0B3C49"/>
                </a:solidFill>
                <a:latin typeface="Calibri" pitchFamily="34" charset="0"/>
                <a:ea typeface="Calibri" pitchFamily="34" charset="-122"/>
                <a:cs typeface="Calibri" pitchFamily="34" charset="-120"/>
              </a:rPr>
              <a:t>Paggo</a:t>
            </a:r>
            <a:endParaRPr lang="en-US" sz="1250" dirty="0"/>
          </a:p>
        </p:txBody>
      </p:sp>
      <p:sp>
        <p:nvSpPr>
          <p:cNvPr id="7" name="Text 5"/>
          <p:cNvSpPr txBox="1"/>
          <p:nvPr/>
        </p:nvSpPr>
        <p:spPr>
          <a:xfrm>
            <a:off x="749808" y="2176272"/>
            <a:ext cx="3108960" cy="237744"/>
          </a:xfrm>
          <a:prstGeom prst="rect">
            <a:avLst/>
          </a:prstGeom>
          <a:noFill/>
          <a:ln/>
        </p:spPr>
        <p:txBody>
          <a:bodyPr wrap="square" lIns="0" tIns="0" rIns="0" bIns="0" rtlCol="0" anchor="ctr"/>
          <a:lstStyle/>
          <a:p>
            <a:pPr indent="0" marL="0">
              <a:buNone/>
            </a:pPr>
            <a:r>
              <a:rPr lang="en-US" sz="1000" dirty="0">
                <a:solidFill>
                  <a:srgbClr val="5A6B72"/>
                </a:solidFill>
                <a:latin typeface="Calibri" pitchFamily="34" charset="0"/>
                <a:ea typeface="Calibri" pitchFamily="34" charset="-122"/>
                <a:cs typeface="Calibri" pitchFamily="34" charset="-120"/>
              </a:rPr>
              <a:t>todo su inventario en categoría</a:t>
            </a:r>
            <a:endParaRPr lang="en-US" sz="1000" dirty="0"/>
          </a:p>
        </p:txBody>
      </p:sp>
      <p:sp>
        <p:nvSpPr>
          <p:cNvPr id="8" name="Text 6"/>
          <p:cNvSpPr txBox="1"/>
          <p:nvPr/>
        </p:nvSpPr>
        <p:spPr>
          <a:xfrm>
            <a:off x="4663440" y="1938528"/>
            <a:ext cx="960120" cy="438912"/>
          </a:xfrm>
          <a:prstGeom prst="rect">
            <a:avLst/>
          </a:prstGeom>
          <a:noFill/>
          <a:ln/>
        </p:spPr>
        <p:txBody>
          <a:bodyPr wrap="square" lIns="0" tIns="0" rIns="0" bIns="0" rtlCol="0" anchor="ctr"/>
          <a:lstStyle/>
          <a:p>
            <a:pPr algn="r" indent="0" marL="0">
              <a:buNone/>
            </a:pPr>
            <a:r>
              <a:rPr lang="en-US" sz="2200" b="1" dirty="0">
                <a:solidFill>
                  <a:srgbClr val="0B3C49"/>
                </a:solidFill>
                <a:latin typeface="Cambria" pitchFamily="34" charset="0"/>
                <a:ea typeface="Cambria" pitchFamily="34" charset="-122"/>
                <a:cs typeface="Cambria" pitchFamily="34" charset="-120"/>
              </a:rPr>
              <a:t>31</a:t>
            </a:r>
            <a:endParaRPr lang="en-US" sz="2200" dirty="0"/>
          </a:p>
        </p:txBody>
      </p:sp>
      <p:sp>
        <p:nvSpPr>
          <p:cNvPr id="9" name="Text 7"/>
          <p:cNvSpPr txBox="1"/>
          <p:nvPr/>
        </p:nvSpPr>
        <p:spPr>
          <a:xfrm>
            <a:off x="5669280" y="2066544"/>
            <a:ext cx="685800" cy="237744"/>
          </a:xfrm>
          <a:prstGeom prst="rect">
            <a:avLst/>
          </a:prstGeom>
          <a:noFill/>
          <a:ln/>
        </p:spPr>
        <p:txBody>
          <a:bodyPr wrap="square" lIns="0" tIns="0" rIns="0" bIns="0" rtlCol="0" anchor="ctr"/>
          <a:lstStyle/>
          <a:p>
            <a:pPr indent="0" marL="0">
              <a:buNone/>
            </a:pPr>
            <a:r>
              <a:rPr lang="en-US" sz="950" dirty="0">
                <a:solidFill>
                  <a:srgbClr val="5A6B72"/>
                </a:solidFill>
                <a:latin typeface="Calibri" pitchFamily="34" charset="0"/>
                <a:ea typeface="Calibri" pitchFamily="34" charset="-122"/>
                <a:cs typeface="Calibri" pitchFamily="34" charset="-120"/>
              </a:rPr>
              <a:t>presión</a:t>
            </a:r>
            <a:endParaRPr lang="en-US" sz="950" dirty="0"/>
          </a:p>
        </p:txBody>
      </p:sp>
      <p:sp>
        <p:nvSpPr>
          <p:cNvPr id="10" name="Shape 8"/>
          <p:cNvSpPr/>
          <p:nvPr/>
        </p:nvSpPr>
        <p:spPr>
          <a:xfrm>
            <a:off x="548640" y="2596896"/>
            <a:ext cx="5943600" cy="658368"/>
          </a:xfrm>
          <a:prstGeom prst="roundRect">
            <a:avLst>
              <a:gd name="adj" fmla="val 8333"/>
            </a:avLst>
          </a:prstGeom>
          <a:solidFill>
            <a:srgbClr val="FFFFFF"/>
          </a:solidFill>
          <a:ln w="12700">
            <a:solidFill>
              <a:srgbClr val="D9E2E5"/>
            </a:solidFill>
            <a:prstDash val="solid"/>
          </a:ln>
        </p:spPr>
      </p:sp>
      <p:sp>
        <p:nvSpPr>
          <p:cNvPr id="11" name="Text 9"/>
          <p:cNvSpPr txBox="1"/>
          <p:nvPr/>
        </p:nvSpPr>
        <p:spPr>
          <a:xfrm>
            <a:off x="749808" y="2679192"/>
            <a:ext cx="2743200" cy="274320"/>
          </a:xfrm>
          <a:prstGeom prst="rect">
            <a:avLst/>
          </a:prstGeom>
          <a:noFill/>
          <a:ln/>
        </p:spPr>
        <p:txBody>
          <a:bodyPr wrap="square" lIns="0" tIns="0" rIns="0" bIns="0" rtlCol="0" anchor="ctr"/>
          <a:lstStyle/>
          <a:p>
            <a:pPr indent="0" marL="0">
              <a:buNone/>
            </a:pPr>
            <a:r>
              <a:rPr lang="en-US" sz="1250" b="1" dirty="0">
                <a:solidFill>
                  <a:srgbClr val="0B3C49"/>
                </a:solidFill>
                <a:latin typeface="Calibri" pitchFamily="34" charset="0"/>
                <a:ea typeface="Calibri" pitchFamily="34" charset="-122"/>
                <a:cs typeface="Calibri" pitchFamily="34" charset="-120"/>
              </a:rPr>
              <a:t>Recurrente</a:t>
            </a:r>
            <a:endParaRPr lang="en-US" sz="1250" dirty="0"/>
          </a:p>
        </p:txBody>
      </p:sp>
      <p:sp>
        <p:nvSpPr>
          <p:cNvPr id="12" name="Text 10"/>
          <p:cNvSpPr txBox="1"/>
          <p:nvPr/>
        </p:nvSpPr>
        <p:spPr>
          <a:xfrm>
            <a:off x="749808" y="2944368"/>
            <a:ext cx="3108960" cy="237744"/>
          </a:xfrm>
          <a:prstGeom prst="rect">
            <a:avLst/>
          </a:prstGeom>
          <a:noFill/>
          <a:ln/>
        </p:spPr>
        <p:txBody>
          <a:bodyPr wrap="square" lIns="0" tIns="0" rIns="0" bIns="0" rtlCol="0" anchor="ctr"/>
          <a:lstStyle/>
          <a:p>
            <a:pPr indent="0" marL="0">
              <a:buNone/>
            </a:pPr>
            <a:r>
              <a:rPr lang="en-US" sz="1000" dirty="0">
                <a:solidFill>
                  <a:srgbClr val="5A6B72"/>
                </a:solidFill>
                <a:latin typeface="Calibri" pitchFamily="34" charset="0"/>
                <a:ea typeface="Calibri" pitchFamily="34" charset="-122"/>
                <a:cs typeface="Calibri" pitchFamily="34" charset="-120"/>
              </a:rPr>
              <a:t>todo su inventario en categoría</a:t>
            </a:r>
            <a:endParaRPr lang="en-US" sz="1000" dirty="0"/>
          </a:p>
        </p:txBody>
      </p:sp>
      <p:sp>
        <p:nvSpPr>
          <p:cNvPr id="13" name="Text 11"/>
          <p:cNvSpPr txBox="1"/>
          <p:nvPr/>
        </p:nvSpPr>
        <p:spPr>
          <a:xfrm>
            <a:off x="4663440" y="2706624"/>
            <a:ext cx="960120" cy="438912"/>
          </a:xfrm>
          <a:prstGeom prst="rect">
            <a:avLst/>
          </a:prstGeom>
          <a:noFill/>
          <a:ln/>
        </p:spPr>
        <p:txBody>
          <a:bodyPr wrap="square" lIns="0" tIns="0" rIns="0" bIns="0" rtlCol="0" anchor="ctr"/>
          <a:lstStyle/>
          <a:p>
            <a:pPr algn="r" indent="0" marL="0">
              <a:buNone/>
            </a:pPr>
            <a:r>
              <a:rPr lang="en-US" sz="2200" b="1" dirty="0">
                <a:solidFill>
                  <a:srgbClr val="0B3C49"/>
                </a:solidFill>
                <a:latin typeface="Cambria" pitchFamily="34" charset="0"/>
                <a:ea typeface="Cambria" pitchFamily="34" charset="-122"/>
                <a:cs typeface="Cambria" pitchFamily="34" charset="-120"/>
              </a:rPr>
              <a:t>6</a:t>
            </a:r>
            <a:endParaRPr lang="en-US" sz="2200" dirty="0"/>
          </a:p>
        </p:txBody>
      </p:sp>
      <p:sp>
        <p:nvSpPr>
          <p:cNvPr id="14" name="Text 12"/>
          <p:cNvSpPr txBox="1"/>
          <p:nvPr/>
        </p:nvSpPr>
        <p:spPr>
          <a:xfrm>
            <a:off x="5669280" y="2834640"/>
            <a:ext cx="685800" cy="237744"/>
          </a:xfrm>
          <a:prstGeom prst="rect">
            <a:avLst/>
          </a:prstGeom>
          <a:noFill/>
          <a:ln/>
        </p:spPr>
        <p:txBody>
          <a:bodyPr wrap="square" lIns="0" tIns="0" rIns="0" bIns="0" rtlCol="0" anchor="ctr"/>
          <a:lstStyle/>
          <a:p>
            <a:pPr indent="0" marL="0">
              <a:buNone/>
            </a:pPr>
            <a:r>
              <a:rPr lang="en-US" sz="950" dirty="0">
                <a:solidFill>
                  <a:srgbClr val="5A6B72"/>
                </a:solidFill>
                <a:latin typeface="Calibri" pitchFamily="34" charset="0"/>
                <a:ea typeface="Calibri" pitchFamily="34" charset="-122"/>
                <a:cs typeface="Calibri" pitchFamily="34" charset="-120"/>
              </a:rPr>
              <a:t>presión</a:t>
            </a:r>
            <a:endParaRPr lang="en-US" sz="950" dirty="0"/>
          </a:p>
        </p:txBody>
      </p:sp>
      <p:sp>
        <p:nvSpPr>
          <p:cNvPr id="15" name="Shape 13"/>
          <p:cNvSpPr/>
          <p:nvPr/>
        </p:nvSpPr>
        <p:spPr>
          <a:xfrm>
            <a:off x="548640" y="3364992"/>
            <a:ext cx="5943600" cy="658368"/>
          </a:xfrm>
          <a:prstGeom prst="roundRect">
            <a:avLst>
              <a:gd name="adj" fmla="val 8333"/>
            </a:avLst>
          </a:prstGeom>
          <a:solidFill>
            <a:srgbClr val="FFFFFF"/>
          </a:solidFill>
          <a:ln w="12700">
            <a:solidFill>
              <a:srgbClr val="D9E2E5"/>
            </a:solidFill>
            <a:prstDash val="solid"/>
          </a:ln>
        </p:spPr>
      </p:sp>
      <p:sp>
        <p:nvSpPr>
          <p:cNvPr id="16" name="Text 14"/>
          <p:cNvSpPr txBox="1"/>
          <p:nvPr/>
        </p:nvSpPr>
        <p:spPr>
          <a:xfrm>
            <a:off x="749808" y="3447288"/>
            <a:ext cx="2743200" cy="274320"/>
          </a:xfrm>
          <a:prstGeom prst="rect">
            <a:avLst/>
          </a:prstGeom>
          <a:noFill/>
          <a:ln/>
        </p:spPr>
        <p:txBody>
          <a:bodyPr wrap="square" lIns="0" tIns="0" rIns="0" bIns="0" rtlCol="0" anchor="ctr"/>
          <a:lstStyle/>
          <a:p>
            <a:pPr indent="0" marL="0">
              <a:buNone/>
            </a:pPr>
            <a:r>
              <a:rPr lang="en-US" sz="1250" b="1" dirty="0">
                <a:solidFill>
                  <a:srgbClr val="0B3C49"/>
                </a:solidFill>
                <a:latin typeface="Calibri" pitchFamily="34" charset="0"/>
                <a:ea typeface="Calibri" pitchFamily="34" charset="-122"/>
                <a:cs typeface="Calibri" pitchFamily="34" charset="-120"/>
              </a:rPr>
              <a:t>GuatePOS</a:t>
            </a:r>
            <a:endParaRPr lang="en-US" sz="1250" dirty="0"/>
          </a:p>
        </p:txBody>
      </p:sp>
      <p:sp>
        <p:nvSpPr>
          <p:cNvPr id="17" name="Text 15"/>
          <p:cNvSpPr txBox="1"/>
          <p:nvPr/>
        </p:nvSpPr>
        <p:spPr>
          <a:xfrm>
            <a:off x="749808" y="3712464"/>
            <a:ext cx="3108960" cy="237744"/>
          </a:xfrm>
          <a:prstGeom prst="rect">
            <a:avLst/>
          </a:prstGeom>
          <a:noFill/>
          <a:ln/>
        </p:spPr>
        <p:txBody>
          <a:bodyPr wrap="square" lIns="0" tIns="0" rIns="0" bIns="0" rtlCol="0" anchor="ctr"/>
          <a:lstStyle/>
          <a:p>
            <a:pPr indent="0" marL="0">
              <a:buNone/>
            </a:pPr>
            <a:r>
              <a:rPr lang="en-US" sz="1000" dirty="0">
                <a:solidFill>
                  <a:srgbClr val="5A6B72"/>
                </a:solidFill>
                <a:latin typeface="Calibri" pitchFamily="34" charset="0"/>
                <a:ea typeface="Calibri" pitchFamily="34" charset="-122"/>
                <a:cs typeface="Calibri" pitchFamily="34" charset="-120"/>
              </a:rPr>
              <a:t>todo su inventario en categoría</a:t>
            </a:r>
            <a:endParaRPr lang="en-US" sz="1000" dirty="0"/>
          </a:p>
        </p:txBody>
      </p:sp>
      <p:sp>
        <p:nvSpPr>
          <p:cNvPr id="18" name="Text 16"/>
          <p:cNvSpPr txBox="1"/>
          <p:nvPr/>
        </p:nvSpPr>
        <p:spPr>
          <a:xfrm>
            <a:off x="4663440" y="3474720"/>
            <a:ext cx="960120" cy="438912"/>
          </a:xfrm>
          <a:prstGeom prst="rect">
            <a:avLst/>
          </a:prstGeom>
          <a:noFill/>
          <a:ln/>
        </p:spPr>
        <p:txBody>
          <a:bodyPr wrap="square" lIns="0" tIns="0" rIns="0" bIns="0" rtlCol="0" anchor="ctr"/>
          <a:lstStyle/>
          <a:p>
            <a:pPr algn="r" indent="0" marL="0">
              <a:buNone/>
            </a:pPr>
            <a:r>
              <a:rPr lang="en-US" sz="2200" b="1" dirty="0">
                <a:solidFill>
                  <a:srgbClr val="0B3C49"/>
                </a:solidFill>
                <a:latin typeface="Cambria" pitchFamily="34" charset="0"/>
                <a:ea typeface="Cambria" pitchFamily="34" charset="-122"/>
                <a:cs typeface="Cambria" pitchFamily="34" charset="-120"/>
              </a:rPr>
              <a:t>3</a:t>
            </a:r>
            <a:endParaRPr lang="en-US" sz="2200" dirty="0"/>
          </a:p>
        </p:txBody>
      </p:sp>
      <p:sp>
        <p:nvSpPr>
          <p:cNvPr id="19" name="Text 17"/>
          <p:cNvSpPr txBox="1"/>
          <p:nvPr/>
        </p:nvSpPr>
        <p:spPr>
          <a:xfrm>
            <a:off x="5669280" y="3602736"/>
            <a:ext cx="685800" cy="237744"/>
          </a:xfrm>
          <a:prstGeom prst="rect">
            <a:avLst/>
          </a:prstGeom>
          <a:noFill/>
          <a:ln/>
        </p:spPr>
        <p:txBody>
          <a:bodyPr wrap="square" lIns="0" tIns="0" rIns="0" bIns="0" rtlCol="0" anchor="ctr"/>
          <a:lstStyle/>
          <a:p>
            <a:pPr indent="0" marL="0">
              <a:buNone/>
            </a:pPr>
            <a:r>
              <a:rPr lang="en-US" sz="950" dirty="0">
                <a:solidFill>
                  <a:srgbClr val="5A6B72"/>
                </a:solidFill>
                <a:latin typeface="Calibri" pitchFamily="34" charset="0"/>
                <a:ea typeface="Calibri" pitchFamily="34" charset="-122"/>
                <a:cs typeface="Calibri" pitchFamily="34" charset="-120"/>
              </a:rPr>
              <a:t>presión</a:t>
            </a:r>
            <a:endParaRPr lang="en-US" sz="950" dirty="0"/>
          </a:p>
        </p:txBody>
      </p:sp>
      <p:sp>
        <p:nvSpPr>
          <p:cNvPr id="20" name="Shape 18"/>
          <p:cNvSpPr/>
          <p:nvPr/>
        </p:nvSpPr>
        <p:spPr>
          <a:xfrm>
            <a:off x="548640" y="4133088"/>
            <a:ext cx="5943600" cy="658368"/>
          </a:xfrm>
          <a:prstGeom prst="roundRect">
            <a:avLst>
              <a:gd name="adj" fmla="val 8333"/>
            </a:avLst>
          </a:prstGeom>
          <a:solidFill>
            <a:srgbClr val="FFFFFF"/>
          </a:solidFill>
          <a:ln w="19050">
            <a:solidFill>
              <a:srgbClr val="E8A33D"/>
            </a:solidFill>
            <a:prstDash val="solid"/>
          </a:ln>
        </p:spPr>
      </p:sp>
      <p:sp>
        <p:nvSpPr>
          <p:cNvPr id="21" name="Text 19"/>
          <p:cNvSpPr txBox="1"/>
          <p:nvPr/>
        </p:nvSpPr>
        <p:spPr>
          <a:xfrm>
            <a:off x="749808" y="4215384"/>
            <a:ext cx="2743200" cy="274320"/>
          </a:xfrm>
          <a:prstGeom prst="rect">
            <a:avLst/>
          </a:prstGeom>
          <a:noFill/>
          <a:ln/>
        </p:spPr>
        <p:txBody>
          <a:bodyPr wrap="square" lIns="0" tIns="0" rIns="0" bIns="0" rtlCol="0" anchor="ctr"/>
          <a:lstStyle/>
          <a:p>
            <a:pPr indent="0" marL="0">
              <a:buNone/>
            </a:pPr>
            <a:r>
              <a:rPr lang="en-US" sz="1250" b="1" dirty="0">
                <a:solidFill>
                  <a:srgbClr val="0B3C49"/>
                </a:solidFill>
                <a:latin typeface="Calibri" pitchFamily="34" charset="0"/>
                <a:ea typeface="Calibri" pitchFamily="34" charset="-122"/>
                <a:cs typeface="Calibri" pitchFamily="34" charset="-120"/>
              </a:rPr>
              <a:t>Banco Industrial (BI)</a:t>
            </a:r>
            <a:endParaRPr lang="en-US" sz="1250" dirty="0"/>
          </a:p>
        </p:txBody>
      </p:sp>
      <p:sp>
        <p:nvSpPr>
          <p:cNvPr id="22" name="Text 20"/>
          <p:cNvSpPr txBox="1"/>
          <p:nvPr/>
        </p:nvSpPr>
        <p:spPr>
          <a:xfrm>
            <a:off x="749808" y="4480560"/>
            <a:ext cx="3108960" cy="237744"/>
          </a:xfrm>
          <a:prstGeom prst="rect">
            <a:avLst/>
          </a:prstGeom>
          <a:noFill/>
          <a:ln/>
        </p:spPr>
        <p:txBody>
          <a:bodyPr wrap="square" lIns="0" tIns="0" rIns="0" bIns="0" rtlCol="0" anchor="ctr"/>
          <a:lstStyle/>
          <a:p>
            <a:pPr indent="0" marL="0">
              <a:buNone/>
            </a:pPr>
            <a:r>
              <a:rPr lang="en-US" sz="1000" dirty="0">
                <a:solidFill>
                  <a:srgbClr val="5A6B72"/>
                </a:solidFill>
                <a:latin typeface="Calibri" pitchFamily="34" charset="0"/>
                <a:ea typeface="Calibri" pitchFamily="34" charset="-122"/>
                <a:cs typeface="Calibri" pitchFamily="34" charset="-120"/>
              </a:rPr>
              <a:t>845 activos en total</a:t>
            </a:r>
            <a:endParaRPr lang="en-US" sz="1000" dirty="0"/>
          </a:p>
        </p:txBody>
      </p:sp>
      <p:sp>
        <p:nvSpPr>
          <p:cNvPr id="23" name="Text 21"/>
          <p:cNvSpPr txBox="1"/>
          <p:nvPr/>
        </p:nvSpPr>
        <p:spPr>
          <a:xfrm>
            <a:off x="4663440" y="4242816"/>
            <a:ext cx="960120" cy="438912"/>
          </a:xfrm>
          <a:prstGeom prst="rect">
            <a:avLst/>
          </a:prstGeom>
          <a:noFill/>
          <a:ln/>
        </p:spPr>
        <p:txBody>
          <a:bodyPr wrap="square" lIns="0" tIns="0" rIns="0" bIns="0" rtlCol="0" anchor="ctr"/>
          <a:lstStyle/>
          <a:p>
            <a:pPr algn="r" indent="0" marL="0">
              <a:buNone/>
            </a:pPr>
            <a:r>
              <a:rPr lang="en-US" sz="2200" b="1" dirty="0">
                <a:solidFill>
                  <a:srgbClr val="0B3C49"/>
                </a:solidFill>
                <a:latin typeface="Cambria" pitchFamily="34" charset="0"/>
                <a:ea typeface="Cambria" pitchFamily="34" charset="-122"/>
                <a:cs typeface="Cambria" pitchFamily="34" charset="-120"/>
              </a:rPr>
              <a:t>2</a:t>
            </a:r>
            <a:endParaRPr lang="en-US" sz="2200" dirty="0"/>
          </a:p>
        </p:txBody>
      </p:sp>
      <p:sp>
        <p:nvSpPr>
          <p:cNvPr id="24" name="Text 22"/>
          <p:cNvSpPr txBox="1"/>
          <p:nvPr/>
        </p:nvSpPr>
        <p:spPr>
          <a:xfrm>
            <a:off x="5669280" y="4370832"/>
            <a:ext cx="685800" cy="237744"/>
          </a:xfrm>
          <a:prstGeom prst="rect">
            <a:avLst/>
          </a:prstGeom>
          <a:noFill/>
          <a:ln/>
        </p:spPr>
        <p:txBody>
          <a:bodyPr wrap="square" lIns="0" tIns="0" rIns="0" bIns="0" rtlCol="0" anchor="ctr"/>
          <a:lstStyle/>
          <a:p>
            <a:pPr indent="0" marL="0">
              <a:buNone/>
            </a:pPr>
            <a:r>
              <a:rPr lang="en-US" sz="950" dirty="0">
                <a:solidFill>
                  <a:srgbClr val="5A6B72"/>
                </a:solidFill>
                <a:latin typeface="Calibri" pitchFamily="34" charset="0"/>
                <a:ea typeface="Calibri" pitchFamily="34" charset="-122"/>
                <a:cs typeface="Calibri" pitchFamily="34" charset="-120"/>
              </a:rPr>
              <a:t>presión</a:t>
            </a:r>
            <a:endParaRPr lang="en-US" sz="950" dirty="0"/>
          </a:p>
        </p:txBody>
      </p:sp>
      <p:sp>
        <p:nvSpPr>
          <p:cNvPr id="25" name="Text 23"/>
          <p:cNvSpPr txBox="1"/>
          <p:nvPr/>
        </p:nvSpPr>
        <p:spPr>
          <a:xfrm>
            <a:off x="749808" y="4828032"/>
            <a:ext cx="5760720" cy="237744"/>
          </a:xfrm>
          <a:prstGeom prst="rect">
            <a:avLst/>
          </a:prstGeom>
          <a:noFill/>
          <a:ln/>
        </p:spPr>
        <p:txBody>
          <a:bodyPr wrap="square" lIns="0" tIns="0" rIns="0" bIns="0" rtlCol="0" anchor="ctr"/>
          <a:lstStyle/>
          <a:p>
            <a:pPr indent="0" marL="0">
              <a:buNone/>
            </a:pPr>
            <a:r>
              <a:rPr lang="en-US" sz="1050" i="1" dirty="0">
                <a:solidFill>
                  <a:srgbClr val="5A6B72"/>
                </a:solidFill>
                <a:latin typeface="Calibri" pitchFamily="34" charset="0"/>
                <a:ea typeface="Calibri" pitchFamily="34" charset="-122"/>
                <a:cs typeface="Calibri" pitchFamily="34" charset="-120"/>
              </a:rPr>
              <a:t>Sin presencia medida en GT: Square.</a:t>
            </a:r>
            <a:endParaRPr lang="en-US" sz="1050" dirty="0"/>
          </a:p>
        </p:txBody>
      </p:sp>
      <p:graphicFrame>
        <p:nvGraphicFramePr>
          <p:cNvPr id="26" name="Chart 0" descr=""/>
          <p:cNvGraphicFramePr/>
          <p:nvPr/>
        </p:nvGraphicFramePr>
        <p:xfrm>
          <a:off x="6720840" y="1737360"/>
          <a:ext cx="4892040" cy="3200400"/>
        </p:xfrm>
        <a:graphic xmlns:a="http://schemas.openxmlformats.org/drawingml/2006/main">
          <a:graphicData uri="http://schemas.openxmlformats.org/drawingml/2006/chart">
            <c:chart xmlns:c="http://schemas.openxmlformats.org/drawingml/2006/chart" r:id="rId1"/>
          </a:graphicData>
        </a:graphic>
      </p:graphicFrame>
      <p:sp>
        <p:nvSpPr>
          <p:cNvPr id="27" name="Shape 24"/>
          <p:cNvSpPr/>
          <p:nvPr/>
        </p:nvSpPr>
        <p:spPr>
          <a:xfrm>
            <a:off x="548640" y="5230368"/>
            <a:ext cx="5943600" cy="841248"/>
          </a:xfrm>
          <a:prstGeom prst="roundRect">
            <a:avLst>
              <a:gd name="adj" fmla="val 8696"/>
            </a:avLst>
          </a:prstGeom>
          <a:solidFill>
            <a:srgbClr val="0B3C49"/>
          </a:solidFill>
          <a:ln w="19050">
            <a:solidFill>
              <a:srgbClr val="02C39A"/>
            </a:solidFill>
            <a:prstDash val="solid"/>
          </a:ln>
        </p:spPr>
      </p:sp>
      <p:sp>
        <p:nvSpPr>
          <p:cNvPr id="28" name="Text 25"/>
          <p:cNvSpPr txBox="1"/>
          <p:nvPr/>
        </p:nvSpPr>
        <p:spPr>
          <a:xfrm>
            <a:off x="768096" y="5358384"/>
            <a:ext cx="5486400" cy="274320"/>
          </a:xfrm>
          <a:prstGeom prst="rect">
            <a:avLst/>
          </a:prstGeom>
          <a:noFill/>
          <a:ln/>
        </p:spPr>
        <p:txBody>
          <a:bodyPr wrap="square" lIns="0" tIns="0" rIns="0" bIns="0" rtlCol="0" anchor="ctr"/>
          <a:lstStyle/>
          <a:p>
            <a:pPr indent="0" marL="0">
              <a:buNone/>
            </a:pPr>
            <a:r>
              <a:rPr lang="en-US" sz="1300" b="1" dirty="0">
                <a:solidFill>
                  <a:srgbClr val="02C39A"/>
                </a:solidFill>
                <a:latin typeface="Calibri" pitchFamily="34" charset="0"/>
                <a:ea typeface="Calibri" pitchFamily="34" charset="-122"/>
                <a:cs typeface="Calibri" pitchFamily="34" charset="-120"/>
              </a:rPr>
              <a:t>SV: sin disputa medida</a:t>
            </a:r>
            <a:endParaRPr lang="en-US" sz="1300" dirty="0"/>
          </a:p>
        </p:txBody>
      </p:sp>
      <p:sp>
        <p:nvSpPr>
          <p:cNvPr id="29" name="Text 26"/>
          <p:cNvSpPr txBox="1"/>
          <p:nvPr/>
        </p:nvSpPr>
        <p:spPr>
          <a:xfrm>
            <a:off x="768096" y="5650992"/>
            <a:ext cx="5486400" cy="310896"/>
          </a:xfrm>
          <a:prstGeom prst="rect">
            <a:avLst/>
          </a:prstGeom>
          <a:noFill/>
          <a:ln/>
        </p:spPr>
        <p:txBody>
          <a:bodyPr wrap="square" lIns="0" tIns="0" rIns="0" bIns="0" rtlCol="0" anchor="ctr"/>
          <a:lstStyle/>
          <a:p>
            <a:pPr indent="0" marL="0">
              <a:buNone/>
            </a:pPr>
            <a:r>
              <a:rPr lang="en-US" sz="1050" dirty="0">
                <a:solidFill>
                  <a:srgbClr val="9DB7BF"/>
                </a:solidFill>
                <a:latin typeface="Calibri" pitchFamily="34" charset="0"/>
                <a:ea typeface="Calibri" pitchFamily="34" charset="-122"/>
                <a:cs typeface="Calibri" pitchFamily="34" charset="-120"/>
              </a:rPr>
              <a:t>Ninguno de los competidores del registro curado tiene anuncios activos ahí.</a:t>
            </a:r>
            <a:endParaRPr lang="en-US" sz="1050" dirty="0"/>
          </a:p>
        </p:txBody>
      </p:sp>
      <p:sp>
        <p:nvSpPr>
          <p:cNvPr id="30" name="Text 27"/>
          <p:cNvSpPr txBox="1"/>
          <p:nvPr/>
        </p:nvSpPr>
        <p:spPr>
          <a:xfrm>
            <a:off x="6720840" y="5138928"/>
            <a:ext cx="4892040" cy="457200"/>
          </a:xfrm>
          <a:prstGeom prst="rect">
            <a:avLst/>
          </a:prstGeom>
          <a:noFill/>
          <a:ln/>
        </p:spPr>
        <p:txBody>
          <a:bodyPr wrap="square" lIns="0" tIns="0" rIns="0" bIns="0" rtlCol="0" anchor="ctr"/>
          <a:lstStyle/>
          <a:p>
            <a:pPr indent="0" marL="0">
              <a:buNone/>
            </a:pPr>
            <a:r>
              <a:rPr lang="en-US" sz="950" i="1" dirty="0">
                <a:solidFill>
                  <a:srgbClr val="5A6B72"/>
                </a:solidFill>
                <a:latin typeface="Calibri" pitchFamily="34" charset="0"/>
                <a:ea typeface="Calibri" pitchFamily="34" charset="-122"/>
                <a:cs typeface="Calibri" pitchFamily="34" charset="-120"/>
              </a:rPr>
              <a:t>La Ad Library no acepta rango de fechas: esto es una foto del día de la corrida, no una serie.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8"/>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219456"/>
          </a:xfrm>
          <a:prstGeom prst="rect">
            <a:avLst/>
          </a:prstGeom>
          <a:noFill/>
          <a:ln/>
        </p:spPr>
        <p:txBody>
          <a:bodyPr wrap="square" lIns="0" tIns="0" rIns="0" bIns="0" rtlCol="0" anchor="ctr"/>
          <a:lstStyle/>
          <a:p>
            <a:pPr indent="0" marL="0">
              <a:buNone/>
            </a:pPr>
            <a:r>
              <a:rPr lang="en-US" sz="1100" b="1" spc="200" kern="0" dirty="0">
                <a:solidFill>
                  <a:srgbClr val="02C39A"/>
                </a:solidFill>
                <a:latin typeface="Calibri" pitchFamily="34" charset="0"/>
                <a:ea typeface="Calibri" pitchFamily="34" charset="-122"/>
                <a:cs typeface="Calibri" pitchFamily="34" charset="-120"/>
              </a:rPr>
              <a:t>PASO 5 · OPORTUNIDADES DETECTADAS</a:t>
            </a:r>
            <a:endParaRPr lang="en-US" sz="1100" dirty="0"/>
          </a:p>
        </p:txBody>
      </p:sp>
      <p:sp>
        <p:nvSpPr>
          <p:cNvPr id="3" name="Text 1"/>
          <p:cNvSpPr txBox="1"/>
          <p:nvPr/>
        </p:nvSpPr>
        <p:spPr>
          <a:xfrm>
            <a:off x="548640" y="621792"/>
            <a:ext cx="11064240" cy="566928"/>
          </a:xfrm>
          <a:prstGeom prst="rect">
            <a:avLst/>
          </a:prstGeom>
          <a:noFill/>
          <a:ln/>
        </p:spPr>
        <p:txBody>
          <a:bodyPr wrap="square" lIns="0" tIns="0" rIns="0" bIns="0" rtlCol="0" anchor="ctr"/>
          <a:lstStyle/>
          <a:p>
            <a:pPr indent="0" marL="0">
              <a:buNone/>
            </a:pPr>
            <a:r>
              <a:rPr lang="en-US" sz="3400" b="1" dirty="0">
                <a:solidFill>
                  <a:srgbClr val="0B3C49"/>
                </a:solidFill>
                <a:latin typeface="Cambria" pitchFamily="34" charset="0"/>
                <a:ea typeface="Cambria" pitchFamily="34" charset="-122"/>
                <a:cs typeface="Cambria" pitchFamily="34" charset="-120"/>
              </a:rPr>
              <a:t>Dónde hay dinero mal colocado</a:t>
            </a:r>
            <a:endParaRPr lang="en-US" sz="3400" dirty="0"/>
          </a:p>
        </p:txBody>
      </p:sp>
      <p:sp>
        <p:nvSpPr>
          <p:cNvPr id="4" name="Shape 2"/>
          <p:cNvSpPr/>
          <p:nvPr/>
        </p:nvSpPr>
        <p:spPr>
          <a:xfrm>
            <a:off x="548640" y="1417320"/>
            <a:ext cx="3505200" cy="3703320"/>
          </a:xfrm>
          <a:prstGeom prst="roundRect">
            <a:avLst>
              <a:gd name="adj" fmla="val 2087"/>
            </a:avLst>
          </a:prstGeom>
          <a:solidFill>
            <a:srgbClr val="FFFFFF"/>
          </a:solidFill>
          <a:ln w="19050">
            <a:solidFill>
              <a:srgbClr val="02C39A"/>
            </a:solidFill>
            <a:prstDash val="solid"/>
          </a:ln>
        </p:spPr>
      </p:sp>
      <p:sp>
        <p:nvSpPr>
          <p:cNvPr id="5" name="Shape 3"/>
          <p:cNvSpPr/>
          <p:nvPr/>
        </p:nvSpPr>
        <p:spPr>
          <a:xfrm>
            <a:off x="786384" y="1645920"/>
            <a:ext cx="384048" cy="384048"/>
          </a:xfrm>
          <a:prstGeom prst="ellipse">
            <a:avLst/>
          </a:prstGeom>
          <a:solidFill>
            <a:srgbClr val="02C39A"/>
          </a:solidFill>
          <a:ln/>
        </p:spPr>
      </p:sp>
      <p:sp>
        <p:nvSpPr>
          <p:cNvPr id="6" name="Text 4"/>
          <p:cNvSpPr txBox="1"/>
          <p:nvPr/>
        </p:nvSpPr>
        <p:spPr>
          <a:xfrm>
            <a:off x="786384" y="1645920"/>
            <a:ext cx="384048" cy="384048"/>
          </a:xfrm>
          <a:prstGeom prst="rect">
            <a:avLst/>
          </a:prstGeom>
          <a:noFill/>
          <a:ln/>
        </p:spPr>
        <p:txBody>
          <a:bodyPr wrap="square" lIns="0" tIns="0" rIns="0" bIns="0" rtlCol="0" anchor="ctr"/>
          <a:lstStyle/>
          <a:p>
            <a:pPr algn="ctr" indent="0" marL="0">
              <a:buNone/>
            </a:pPr>
            <a:r>
              <a:rPr lang="en-US" sz="1300" b="1" dirty="0">
                <a:solidFill>
                  <a:srgbClr val="0B3C49"/>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786384" y="2139696"/>
            <a:ext cx="3029712" cy="713232"/>
          </a:xfrm>
          <a:prstGeom prst="rect">
            <a:avLst/>
          </a:prstGeom>
          <a:noFill/>
          <a:ln/>
        </p:spPr>
        <p:txBody>
          <a:bodyPr wrap="square" lIns="0" tIns="0" rIns="0" bIns="0" rtlCol="0" anchor="t"/>
          <a:lstStyle/>
          <a:p>
            <a:pPr indent="0" marL="0">
              <a:buNone/>
            </a:pPr>
            <a:r>
              <a:rPr lang="en-US" sz="1400" b="1" dirty="0">
                <a:solidFill>
                  <a:srgbClr val="0B3C49"/>
                </a:solidFill>
                <a:latin typeface="Calibri" pitchFamily="34" charset="0"/>
                <a:ea typeface="Calibri" pitchFamily="34" charset="-122"/>
                <a:cs typeface="Calibri" pitchFamily="34" charset="-120"/>
              </a:rPr>
              <a:t>Brecha de eficiencia entre campañas</a:t>
            </a:r>
            <a:endParaRPr lang="en-US" sz="1400" dirty="0"/>
          </a:p>
        </p:txBody>
      </p:sp>
      <p:sp>
        <p:nvSpPr>
          <p:cNvPr id="8" name="Text 6"/>
          <p:cNvSpPr txBox="1"/>
          <p:nvPr/>
        </p:nvSpPr>
        <p:spPr>
          <a:xfrm>
            <a:off x="786384" y="2871216"/>
            <a:ext cx="3029712" cy="1234440"/>
          </a:xfrm>
          <a:prstGeom prst="rect">
            <a:avLst/>
          </a:prstGeom>
          <a:noFill/>
          <a:ln/>
        </p:spPr>
        <p:txBody>
          <a:bodyPr wrap="square" lIns="0" tIns="0" rIns="0" bIns="0" rtlCol="0" anchor="t"/>
          <a:lstStyle/>
          <a:p>
            <a:pPr indent="0" marL="0">
              <a:buNone/>
            </a:pPr>
            <a:r>
              <a:rPr lang="en-US" sz="1150" dirty="0">
                <a:solidFill>
                  <a:srgbClr val="1A2B31"/>
                </a:solidFill>
                <a:latin typeface="Calibri" pitchFamily="34" charset="0"/>
                <a:ea typeface="Calibri" pitchFamily="34" charset="-122"/>
                <a:cs typeface="Calibri" pitchFamily="34" charset="-120"/>
              </a:rPr>
              <a:t>Dentro del indicador 'actions:lead', la campaña más costosa paga 2.34x lo que paga la más eficiente.</a:t>
            </a:r>
            <a:endParaRPr lang="en-US" sz="1150" dirty="0"/>
          </a:p>
        </p:txBody>
      </p:sp>
      <p:sp>
        <p:nvSpPr>
          <p:cNvPr id="9" name="Text 7"/>
          <p:cNvSpPr txBox="1"/>
          <p:nvPr/>
        </p:nvSpPr>
        <p:spPr>
          <a:xfrm>
            <a:off x="786384" y="3931920"/>
            <a:ext cx="3029712" cy="384048"/>
          </a:xfrm>
          <a:prstGeom prst="rect">
            <a:avLst/>
          </a:prstGeom>
          <a:noFill/>
          <a:ln/>
        </p:spPr>
        <p:txBody>
          <a:bodyPr wrap="square" lIns="0" tIns="0" rIns="0" bIns="0" rtlCol="0" anchor="t"/>
          <a:lstStyle/>
          <a:p>
            <a:pPr indent="0" marL="0">
              <a:buNone/>
            </a:pPr>
            <a:r>
              <a:rPr lang="en-US" sz="950" dirty="0">
                <a:solidFill>
                  <a:srgbClr val="02C39A"/>
                </a:solidFill>
                <a:latin typeface="Courier New" pitchFamily="34" charset="0"/>
                <a:ea typeface="Courier New" pitchFamily="34" charset="-122"/>
                <a:cs typeface="Courier New" pitchFamily="34" charset="-120"/>
              </a:rPr>
              <a:t>$4.43 ÷ $1.89 = 2.34x</a:t>
            </a:r>
            <a:endParaRPr lang="en-US" sz="950" dirty="0"/>
          </a:p>
        </p:txBody>
      </p:sp>
      <p:sp>
        <p:nvSpPr>
          <p:cNvPr id="10" name="Text 8"/>
          <p:cNvSpPr txBox="1"/>
          <p:nvPr/>
        </p:nvSpPr>
        <p:spPr>
          <a:xfrm>
            <a:off x="786384" y="4352544"/>
            <a:ext cx="3029712" cy="201168"/>
          </a:xfrm>
          <a:prstGeom prst="rect">
            <a:avLst/>
          </a:prstGeom>
          <a:noFill/>
          <a:ln/>
        </p:spPr>
        <p:txBody>
          <a:bodyPr wrap="square" lIns="0" tIns="0" rIns="0" bIns="0" rtlCol="0" anchor="ctr"/>
          <a:lstStyle/>
          <a:p>
            <a:pPr indent="0" marL="0">
              <a:buNone/>
            </a:pPr>
            <a:r>
              <a:rPr lang="en-US" sz="850" b="1" spc="100" kern="0" dirty="0">
                <a:solidFill>
                  <a:srgbClr val="5A6B72"/>
                </a:solidFill>
                <a:latin typeface="Calibri" pitchFamily="34" charset="0"/>
                <a:ea typeface="Calibri" pitchFamily="34" charset="-122"/>
                <a:cs typeface="Calibri" pitchFamily="34" charset="-120"/>
              </a:rPr>
              <a:t>EVIDENCIA</a:t>
            </a:r>
            <a:endParaRPr lang="en-US" sz="850" dirty="0"/>
          </a:p>
        </p:txBody>
      </p:sp>
      <p:sp>
        <p:nvSpPr>
          <p:cNvPr id="11" name="Text 9"/>
          <p:cNvSpPr txBox="1"/>
          <p:nvPr/>
        </p:nvSpPr>
        <p:spPr>
          <a:xfrm>
            <a:off x="786384" y="4553712"/>
            <a:ext cx="3029712" cy="530352"/>
          </a:xfrm>
          <a:prstGeom prst="rect">
            <a:avLst/>
          </a:prstGeom>
          <a:noFill/>
          <a:ln/>
        </p:spPr>
        <p:txBody>
          <a:bodyPr wrap="square" lIns="0" tIns="0" rIns="0" bIns="0" rtlCol="0" anchor="t"/>
          <a:lstStyle/>
          <a:p>
            <a:pPr indent="0" marL="0">
              <a:buNone/>
            </a:pPr>
            <a:r>
              <a:rPr lang="en-US" sz="900" dirty="0">
                <a:solidFill>
                  <a:srgbClr val="5A6B72"/>
                </a:solidFill>
                <a:latin typeface="Calibri" pitchFamily="34" charset="0"/>
                <a:ea typeface="Calibri" pitchFamily="34" charset="-122"/>
                <a:cs typeface="Calibri" pitchFamily="34" charset="-120"/>
              </a:rPr>
              <a:t>Más eficiente: Campaña Punto de Venta SV · $1.89</a:t>
            </a:r>
            <a:endParaRPr lang="en-US" sz="900" dirty="0"/>
          </a:p>
          <a:p>
            <a:pPr indent="0" marL="0">
              <a:buNone/>
            </a:pPr>
            <a:r>
              <a:rPr lang="en-US" sz="900" dirty="0">
                <a:solidFill>
                  <a:srgbClr val="5A6B72"/>
                </a:solidFill>
                <a:latin typeface="Calibri" pitchFamily="34" charset="0"/>
                <a:ea typeface="Calibri" pitchFamily="34" charset="-122"/>
                <a:cs typeface="Calibri" pitchFamily="34" charset="-120"/>
              </a:rPr>
              <a:t>Menos eficiente: Campaña Qpayshop e Integraciones · $4.43</a:t>
            </a:r>
            <a:endParaRPr lang="en-US" sz="900" dirty="0"/>
          </a:p>
        </p:txBody>
      </p:sp>
      <p:sp>
        <p:nvSpPr>
          <p:cNvPr id="12" name="Shape 10"/>
          <p:cNvSpPr/>
          <p:nvPr/>
        </p:nvSpPr>
        <p:spPr>
          <a:xfrm>
            <a:off x="4328160" y="1417320"/>
            <a:ext cx="3505200" cy="3703320"/>
          </a:xfrm>
          <a:prstGeom prst="roundRect">
            <a:avLst>
              <a:gd name="adj" fmla="val 2087"/>
            </a:avLst>
          </a:prstGeom>
          <a:solidFill>
            <a:srgbClr val="FFFFFF"/>
          </a:solidFill>
          <a:ln w="19050">
            <a:solidFill>
              <a:srgbClr val="02C39A"/>
            </a:solidFill>
            <a:prstDash val="solid"/>
          </a:ln>
        </p:spPr>
      </p:sp>
      <p:sp>
        <p:nvSpPr>
          <p:cNvPr id="13" name="Shape 11"/>
          <p:cNvSpPr/>
          <p:nvPr/>
        </p:nvSpPr>
        <p:spPr>
          <a:xfrm>
            <a:off x="4565904" y="1645920"/>
            <a:ext cx="384048" cy="384048"/>
          </a:xfrm>
          <a:prstGeom prst="ellipse">
            <a:avLst/>
          </a:prstGeom>
          <a:solidFill>
            <a:srgbClr val="02C39A"/>
          </a:solidFill>
          <a:ln/>
        </p:spPr>
      </p:sp>
      <p:sp>
        <p:nvSpPr>
          <p:cNvPr id="14" name="Text 12"/>
          <p:cNvSpPr txBox="1"/>
          <p:nvPr/>
        </p:nvSpPr>
        <p:spPr>
          <a:xfrm>
            <a:off x="4565904" y="1645920"/>
            <a:ext cx="384048" cy="384048"/>
          </a:xfrm>
          <a:prstGeom prst="rect">
            <a:avLst/>
          </a:prstGeom>
          <a:noFill/>
          <a:ln/>
        </p:spPr>
        <p:txBody>
          <a:bodyPr wrap="square" lIns="0" tIns="0" rIns="0" bIns="0" rtlCol="0" anchor="ctr"/>
          <a:lstStyle/>
          <a:p>
            <a:pPr algn="ctr" indent="0" marL="0">
              <a:buNone/>
            </a:pPr>
            <a:r>
              <a:rPr lang="en-US" sz="1300" b="1" dirty="0">
                <a:solidFill>
                  <a:srgbClr val="0B3C49"/>
                </a:solidFill>
                <a:latin typeface="Calibri" pitchFamily="34" charset="0"/>
                <a:ea typeface="Calibri" pitchFamily="34" charset="-122"/>
                <a:cs typeface="Calibri" pitchFamily="34" charset="-120"/>
              </a:rPr>
              <a:t>2</a:t>
            </a:r>
            <a:endParaRPr lang="en-US" sz="1300" dirty="0"/>
          </a:p>
        </p:txBody>
      </p:sp>
      <p:sp>
        <p:nvSpPr>
          <p:cNvPr id="15" name="Text 13"/>
          <p:cNvSpPr txBox="1"/>
          <p:nvPr/>
        </p:nvSpPr>
        <p:spPr>
          <a:xfrm>
            <a:off x="4565904" y="2139696"/>
            <a:ext cx="3029712" cy="713232"/>
          </a:xfrm>
          <a:prstGeom prst="rect">
            <a:avLst/>
          </a:prstGeom>
          <a:noFill/>
          <a:ln/>
        </p:spPr>
        <p:txBody>
          <a:bodyPr wrap="square" lIns="0" tIns="0" rIns="0" bIns="0" rtlCol="0" anchor="t"/>
          <a:lstStyle/>
          <a:p>
            <a:pPr indent="0" marL="0">
              <a:buNone/>
            </a:pPr>
            <a:r>
              <a:rPr lang="en-US" sz="1400" b="1" dirty="0">
                <a:solidFill>
                  <a:srgbClr val="0B3C49"/>
                </a:solidFill>
                <a:latin typeface="Calibri" pitchFamily="34" charset="0"/>
                <a:ea typeface="Calibri" pitchFamily="34" charset="-122"/>
                <a:cs typeface="Calibri" pitchFamily="34" charset="-120"/>
              </a:rPr>
              <a:t>El mayor presupuesto no está en la campaña más eficiente</a:t>
            </a:r>
            <a:endParaRPr lang="en-US" sz="1400" dirty="0"/>
          </a:p>
        </p:txBody>
      </p:sp>
      <p:sp>
        <p:nvSpPr>
          <p:cNvPr id="16" name="Text 14"/>
          <p:cNvSpPr txBox="1"/>
          <p:nvPr/>
        </p:nvSpPr>
        <p:spPr>
          <a:xfrm>
            <a:off x="4565904" y="2871216"/>
            <a:ext cx="3029712" cy="1234440"/>
          </a:xfrm>
          <a:prstGeom prst="rect">
            <a:avLst/>
          </a:prstGeom>
          <a:noFill/>
          <a:ln/>
        </p:spPr>
        <p:txBody>
          <a:bodyPr wrap="square" lIns="0" tIns="0" rIns="0" bIns="0" rtlCol="0" anchor="t"/>
          <a:lstStyle/>
          <a:p>
            <a:pPr indent="0" marL="0">
              <a:buNone/>
            </a:pPr>
            <a:r>
              <a:rPr lang="en-US" sz="1150" dirty="0">
                <a:solidFill>
                  <a:srgbClr val="1A2B31"/>
                </a:solidFill>
                <a:latin typeface="Calibri" pitchFamily="34" charset="0"/>
                <a:ea typeface="Calibri" pitchFamily="34" charset="-122"/>
                <a:cs typeface="Calibri" pitchFamily="34" charset="-120"/>
              </a:rPr>
              <a:t>'Campaña Qpaypro Guatemala Nueva' concentra el mayor gasto pero ocupa el puesto 3 de 4 en eficiencia.</a:t>
            </a:r>
            <a:endParaRPr lang="en-US" sz="1150" dirty="0"/>
          </a:p>
        </p:txBody>
      </p:sp>
      <p:sp>
        <p:nvSpPr>
          <p:cNvPr id="17" name="Text 15"/>
          <p:cNvSpPr txBox="1"/>
          <p:nvPr/>
        </p:nvSpPr>
        <p:spPr>
          <a:xfrm>
            <a:off x="4565904" y="4352544"/>
            <a:ext cx="3029712" cy="201168"/>
          </a:xfrm>
          <a:prstGeom prst="rect">
            <a:avLst/>
          </a:prstGeom>
          <a:noFill/>
          <a:ln/>
        </p:spPr>
        <p:txBody>
          <a:bodyPr wrap="square" lIns="0" tIns="0" rIns="0" bIns="0" rtlCol="0" anchor="ctr"/>
          <a:lstStyle/>
          <a:p>
            <a:pPr indent="0" marL="0">
              <a:buNone/>
            </a:pPr>
            <a:r>
              <a:rPr lang="en-US" sz="850" b="1" spc="100" kern="0" dirty="0">
                <a:solidFill>
                  <a:srgbClr val="5A6B72"/>
                </a:solidFill>
                <a:latin typeface="Calibri" pitchFamily="34" charset="0"/>
                <a:ea typeface="Calibri" pitchFamily="34" charset="-122"/>
                <a:cs typeface="Calibri" pitchFamily="34" charset="-120"/>
              </a:rPr>
              <a:t>EVIDENCIA</a:t>
            </a:r>
            <a:endParaRPr lang="en-US" sz="850" dirty="0"/>
          </a:p>
        </p:txBody>
      </p:sp>
      <p:sp>
        <p:nvSpPr>
          <p:cNvPr id="18" name="Text 16"/>
          <p:cNvSpPr txBox="1"/>
          <p:nvPr/>
        </p:nvSpPr>
        <p:spPr>
          <a:xfrm>
            <a:off x="4565904" y="4553712"/>
            <a:ext cx="3029712" cy="530352"/>
          </a:xfrm>
          <a:prstGeom prst="rect">
            <a:avLst/>
          </a:prstGeom>
          <a:noFill/>
          <a:ln/>
        </p:spPr>
        <p:txBody>
          <a:bodyPr wrap="square" lIns="0" tIns="0" rIns="0" bIns="0" rtlCol="0" anchor="t"/>
          <a:lstStyle/>
          <a:p>
            <a:pPr indent="0" marL="0">
              <a:buNone/>
            </a:pPr>
            <a:r>
              <a:rPr lang="en-US" sz="900" dirty="0">
                <a:solidFill>
                  <a:srgbClr val="5A6B72"/>
                </a:solidFill>
                <a:latin typeface="Calibri" pitchFamily="34" charset="0"/>
                <a:ea typeface="Calibri" pitchFamily="34" charset="-122"/>
                <a:cs typeface="Calibri" pitchFamily="34" charset="-120"/>
              </a:rPr>
              <a:t>Mayor gasto: Campaña Qpaypro Guatemala Nueva · $380.68 · $4.01 por resultado</a:t>
            </a:r>
            <a:endParaRPr lang="en-US" sz="900" dirty="0"/>
          </a:p>
          <a:p>
            <a:pPr indent="0" marL="0">
              <a:buNone/>
            </a:pPr>
            <a:r>
              <a:rPr lang="en-US" sz="900" dirty="0">
                <a:solidFill>
                  <a:srgbClr val="5A6B72"/>
                </a:solidFill>
                <a:latin typeface="Calibri" pitchFamily="34" charset="0"/>
                <a:ea typeface="Calibri" pitchFamily="34" charset="-122"/>
                <a:cs typeface="Calibri" pitchFamily="34" charset="-120"/>
              </a:rPr>
              <a:t>Mejor costo: Campaña Punto de Venta SV · $197.97 · $1.89 por resultado</a:t>
            </a:r>
            <a:endParaRPr lang="en-US" sz="900" dirty="0"/>
          </a:p>
        </p:txBody>
      </p:sp>
      <p:sp>
        <p:nvSpPr>
          <p:cNvPr id="19" name="Shape 17"/>
          <p:cNvSpPr/>
          <p:nvPr/>
        </p:nvSpPr>
        <p:spPr>
          <a:xfrm>
            <a:off x="8107680" y="1417320"/>
            <a:ext cx="3505200" cy="3703320"/>
          </a:xfrm>
          <a:prstGeom prst="roundRect">
            <a:avLst>
              <a:gd name="adj" fmla="val 2087"/>
            </a:avLst>
          </a:prstGeom>
          <a:solidFill>
            <a:srgbClr val="FFFFFF"/>
          </a:solidFill>
          <a:ln w="19050">
            <a:solidFill>
              <a:srgbClr val="02C39A"/>
            </a:solidFill>
            <a:prstDash val="solid"/>
          </a:ln>
        </p:spPr>
      </p:sp>
      <p:sp>
        <p:nvSpPr>
          <p:cNvPr id="20" name="Shape 18"/>
          <p:cNvSpPr/>
          <p:nvPr/>
        </p:nvSpPr>
        <p:spPr>
          <a:xfrm>
            <a:off x="8345424" y="1645920"/>
            <a:ext cx="384048" cy="384048"/>
          </a:xfrm>
          <a:prstGeom prst="ellipse">
            <a:avLst/>
          </a:prstGeom>
          <a:solidFill>
            <a:srgbClr val="02C39A"/>
          </a:solidFill>
          <a:ln/>
        </p:spPr>
      </p:sp>
      <p:sp>
        <p:nvSpPr>
          <p:cNvPr id="21" name="Text 19"/>
          <p:cNvSpPr txBox="1"/>
          <p:nvPr/>
        </p:nvSpPr>
        <p:spPr>
          <a:xfrm>
            <a:off x="8345424" y="1645920"/>
            <a:ext cx="384048" cy="384048"/>
          </a:xfrm>
          <a:prstGeom prst="rect">
            <a:avLst/>
          </a:prstGeom>
          <a:noFill/>
          <a:ln/>
        </p:spPr>
        <p:txBody>
          <a:bodyPr wrap="square" lIns="0" tIns="0" rIns="0" bIns="0" rtlCol="0" anchor="ctr"/>
          <a:lstStyle/>
          <a:p>
            <a:pPr algn="ctr" indent="0" marL="0">
              <a:buNone/>
            </a:pPr>
            <a:r>
              <a:rPr lang="en-US" sz="1300" b="1" dirty="0">
                <a:solidFill>
                  <a:srgbClr val="0B3C49"/>
                </a:solidFill>
                <a:latin typeface="Calibri" pitchFamily="34" charset="0"/>
                <a:ea typeface="Calibri" pitchFamily="34" charset="-122"/>
                <a:cs typeface="Calibri" pitchFamily="34" charset="-120"/>
              </a:rPr>
              <a:t>3</a:t>
            </a:r>
            <a:endParaRPr lang="en-US" sz="1300" dirty="0"/>
          </a:p>
        </p:txBody>
      </p:sp>
      <p:sp>
        <p:nvSpPr>
          <p:cNvPr id="22" name="Text 20"/>
          <p:cNvSpPr txBox="1"/>
          <p:nvPr/>
        </p:nvSpPr>
        <p:spPr>
          <a:xfrm>
            <a:off x="8345424" y="2139696"/>
            <a:ext cx="3029712" cy="713232"/>
          </a:xfrm>
          <a:prstGeom prst="rect">
            <a:avLst/>
          </a:prstGeom>
          <a:noFill/>
          <a:ln/>
        </p:spPr>
        <p:txBody>
          <a:bodyPr wrap="square" lIns="0" tIns="0" rIns="0" bIns="0" rtlCol="0" anchor="t"/>
          <a:lstStyle/>
          <a:p>
            <a:pPr indent="0" marL="0">
              <a:buNone/>
            </a:pPr>
            <a:r>
              <a:rPr lang="en-US" sz="1400" b="1" dirty="0">
                <a:solidFill>
                  <a:srgbClr val="0B3C49"/>
                </a:solidFill>
                <a:latin typeface="Calibri" pitchFamily="34" charset="0"/>
                <a:ea typeface="Calibri" pitchFamily="34" charset="-122"/>
                <a:cs typeface="Calibri" pitchFamily="34" charset="-120"/>
              </a:rPr>
              <a:t>Costo de oportunidad del periodo</a:t>
            </a:r>
            <a:endParaRPr lang="en-US" sz="1400" dirty="0"/>
          </a:p>
        </p:txBody>
      </p:sp>
      <p:sp>
        <p:nvSpPr>
          <p:cNvPr id="23" name="Text 21"/>
          <p:cNvSpPr txBox="1"/>
          <p:nvPr/>
        </p:nvSpPr>
        <p:spPr>
          <a:xfrm>
            <a:off x="8345424" y="2871216"/>
            <a:ext cx="3029712" cy="1234440"/>
          </a:xfrm>
          <a:prstGeom prst="rect">
            <a:avLst/>
          </a:prstGeom>
          <a:noFill/>
          <a:ln/>
        </p:spPr>
        <p:txBody>
          <a:bodyPr wrap="square" lIns="0" tIns="0" rIns="0" bIns="0" rtlCol="0" anchor="t"/>
          <a:lstStyle/>
          <a:p>
            <a:pPr indent="0" marL="0">
              <a:buNone/>
            </a:pPr>
            <a:r>
              <a:rPr lang="en-US" sz="1150" dirty="0">
                <a:solidFill>
                  <a:srgbClr val="1A2B31"/>
                </a:solidFill>
                <a:latin typeface="Calibri" pitchFamily="34" charset="0"/>
                <a:ea typeface="Calibri" pitchFamily="34" charset="-122"/>
                <a:cs typeface="Calibri" pitchFamily="34" charset="-120"/>
              </a:rPr>
              <a:t>Las demás campañas del indicador gastaron $765.49 y obtuvieron 265 resultados. Al costo de 'Campaña Punto de Venta SV' ese mismo dinero equivale a 405.</a:t>
            </a:r>
            <a:endParaRPr lang="en-US" sz="1150" dirty="0"/>
          </a:p>
        </p:txBody>
      </p:sp>
      <p:sp>
        <p:nvSpPr>
          <p:cNvPr id="24" name="Text 22"/>
          <p:cNvSpPr txBox="1"/>
          <p:nvPr/>
        </p:nvSpPr>
        <p:spPr>
          <a:xfrm>
            <a:off x="8345424" y="3931920"/>
            <a:ext cx="3029712" cy="384048"/>
          </a:xfrm>
          <a:prstGeom prst="rect">
            <a:avLst/>
          </a:prstGeom>
          <a:noFill/>
          <a:ln/>
        </p:spPr>
        <p:txBody>
          <a:bodyPr wrap="square" lIns="0" tIns="0" rIns="0" bIns="0" rtlCol="0" anchor="t"/>
          <a:lstStyle/>
          <a:p>
            <a:pPr indent="0" marL="0">
              <a:buNone/>
            </a:pPr>
            <a:r>
              <a:rPr lang="en-US" sz="950" dirty="0">
                <a:solidFill>
                  <a:srgbClr val="02C39A"/>
                </a:solidFill>
                <a:latin typeface="Courier New" pitchFamily="34" charset="0"/>
                <a:ea typeface="Courier New" pitchFamily="34" charset="-122"/>
                <a:cs typeface="Courier New" pitchFamily="34" charset="-120"/>
              </a:rPr>
              <a:t>$765.49 ÷ $1.89 = 405 vs 265 reales = 140 de diferencia</a:t>
            </a:r>
            <a:endParaRPr lang="en-US" sz="950" dirty="0"/>
          </a:p>
        </p:txBody>
      </p:sp>
      <p:sp>
        <p:nvSpPr>
          <p:cNvPr id="25" name="Text 23"/>
          <p:cNvSpPr txBox="1"/>
          <p:nvPr/>
        </p:nvSpPr>
        <p:spPr>
          <a:xfrm>
            <a:off x="8345424" y="4352544"/>
            <a:ext cx="3029712" cy="201168"/>
          </a:xfrm>
          <a:prstGeom prst="rect">
            <a:avLst/>
          </a:prstGeom>
          <a:noFill/>
          <a:ln/>
        </p:spPr>
        <p:txBody>
          <a:bodyPr wrap="square" lIns="0" tIns="0" rIns="0" bIns="0" rtlCol="0" anchor="ctr"/>
          <a:lstStyle/>
          <a:p>
            <a:pPr indent="0" marL="0">
              <a:buNone/>
            </a:pPr>
            <a:r>
              <a:rPr lang="en-US" sz="850" b="1" spc="100" kern="0" dirty="0">
                <a:solidFill>
                  <a:srgbClr val="5A6B72"/>
                </a:solidFill>
                <a:latin typeface="Calibri" pitchFamily="34" charset="0"/>
                <a:ea typeface="Calibri" pitchFamily="34" charset="-122"/>
                <a:cs typeface="Calibri" pitchFamily="34" charset="-120"/>
              </a:rPr>
              <a:t>EVIDENCIA</a:t>
            </a:r>
            <a:endParaRPr lang="en-US" sz="850" dirty="0"/>
          </a:p>
        </p:txBody>
      </p:sp>
      <p:sp>
        <p:nvSpPr>
          <p:cNvPr id="26" name="Text 24"/>
          <p:cNvSpPr txBox="1"/>
          <p:nvPr/>
        </p:nvSpPr>
        <p:spPr>
          <a:xfrm>
            <a:off x="8345424" y="4553712"/>
            <a:ext cx="3029712" cy="530352"/>
          </a:xfrm>
          <a:prstGeom prst="rect">
            <a:avLst/>
          </a:prstGeom>
          <a:noFill/>
          <a:ln/>
        </p:spPr>
        <p:txBody>
          <a:bodyPr wrap="square" lIns="0" tIns="0" rIns="0" bIns="0" rtlCol="0" anchor="t"/>
          <a:lstStyle/>
          <a:p>
            <a:pPr indent="0" marL="0">
              <a:buNone/>
            </a:pPr>
            <a:r>
              <a:rPr lang="en-US" sz="900" dirty="0">
                <a:solidFill>
                  <a:srgbClr val="5A6B72"/>
                </a:solidFill>
                <a:latin typeface="Calibri" pitchFamily="34" charset="0"/>
                <a:ea typeface="Calibri" pitchFamily="34" charset="-122"/>
                <a:cs typeface="Calibri" pitchFamily="34" charset="-120"/>
              </a:rPr>
              <a:t>Costo de referencia: Campaña Punto de Venta SV · $1.89</a:t>
            </a:r>
            <a:endParaRPr lang="en-US" sz="900" dirty="0"/>
          </a:p>
          <a:p>
            <a:pPr indent="0" marL="0">
              <a:buNone/>
            </a:pPr>
            <a:r>
              <a:rPr lang="en-US" sz="900" dirty="0">
                <a:solidFill>
                  <a:srgbClr val="5A6B72"/>
                </a:solidFill>
                <a:latin typeface="Calibri" pitchFamily="34" charset="0"/>
                <a:ea typeface="Calibri" pitchFamily="34" charset="-122"/>
                <a:cs typeface="Calibri" pitchFamily="34" charset="-120"/>
              </a:rPr>
              <a:t>Gasto y resultados del resto: $765.49 · 265 resultados</a:t>
            </a:r>
            <a:endParaRPr lang="en-US" sz="900" dirty="0"/>
          </a:p>
        </p:txBody>
      </p:sp>
      <p:sp>
        <p:nvSpPr>
          <p:cNvPr id="27" name="Text 25"/>
          <p:cNvSpPr txBox="1"/>
          <p:nvPr/>
        </p:nvSpPr>
        <p:spPr>
          <a:xfrm>
            <a:off x="548640" y="5349240"/>
            <a:ext cx="11064240" cy="256032"/>
          </a:xfrm>
          <a:prstGeom prst="rect">
            <a:avLst/>
          </a:prstGeom>
          <a:noFill/>
          <a:ln/>
        </p:spPr>
        <p:txBody>
          <a:bodyPr wrap="square" lIns="0" tIns="0" rIns="0" bIns="0" rtlCol="0" anchor="ctr"/>
          <a:lstStyle/>
          <a:p>
            <a:pPr indent="0" marL="0">
              <a:buNone/>
            </a:pPr>
            <a:r>
              <a:rPr lang="en-US" sz="1000" i="1" dirty="0">
                <a:solidFill>
                  <a:srgbClr val="5A6B72"/>
                </a:solidFill>
                <a:latin typeface="Calibri" pitchFamily="34" charset="0"/>
                <a:ea typeface="Calibri" pitchFamily="34" charset="-122"/>
                <a:cs typeface="Calibri" pitchFamily="34" charset="-120"/>
              </a:rPr>
              <a:t>+ 1 hallazgo(s) más en el anexo de la corrida.</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3C49"/>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219456"/>
          </a:xfrm>
          <a:prstGeom prst="rect">
            <a:avLst/>
          </a:prstGeom>
          <a:noFill/>
          <a:ln/>
        </p:spPr>
        <p:txBody>
          <a:bodyPr wrap="square" lIns="0" tIns="0" rIns="0" bIns="0" rtlCol="0" anchor="ctr"/>
          <a:lstStyle/>
          <a:p>
            <a:pPr indent="0" marL="0">
              <a:buNone/>
            </a:pPr>
            <a:r>
              <a:rPr lang="en-US" sz="1100" b="1" spc="200" kern="0" dirty="0">
                <a:solidFill>
                  <a:srgbClr val="B85042"/>
                </a:solidFill>
                <a:latin typeface="Calibri" pitchFamily="34" charset="0"/>
                <a:ea typeface="Calibri" pitchFamily="34" charset="-122"/>
                <a:cs typeface="Calibri" pitchFamily="34" charset="-120"/>
              </a:rPr>
              <a:t>PASO 5 · RIESGOS DETECTADOS</a:t>
            </a:r>
            <a:endParaRPr lang="en-US" sz="1100" dirty="0"/>
          </a:p>
        </p:txBody>
      </p:sp>
      <p:sp>
        <p:nvSpPr>
          <p:cNvPr id="3" name="Text 1"/>
          <p:cNvSpPr txBox="1"/>
          <p:nvPr/>
        </p:nvSpPr>
        <p:spPr>
          <a:xfrm>
            <a:off x="548640" y="621792"/>
            <a:ext cx="11064240" cy="56692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Lo que la competencia está haciendo</a:t>
            </a:r>
            <a:endParaRPr lang="en-US" sz="3400" dirty="0"/>
          </a:p>
        </p:txBody>
      </p:sp>
      <p:sp>
        <p:nvSpPr>
          <p:cNvPr id="4" name="Shape 2"/>
          <p:cNvSpPr/>
          <p:nvPr/>
        </p:nvSpPr>
        <p:spPr>
          <a:xfrm>
            <a:off x="548640" y="1417320"/>
            <a:ext cx="3505200" cy="3703320"/>
          </a:xfrm>
          <a:prstGeom prst="roundRect">
            <a:avLst>
              <a:gd name="adj" fmla="val 2087"/>
            </a:avLst>
          </a:prstGeom>
          <a:solidFill>
            <a:srgbClr val="FFFFFF">
              <a:alpha val="8000"/>
            </a:srgbClr>
          </a:solidFill>
          <a:ln w="19050">
            <a:solidFill>
              <a:srgbClr val="B85042"/>
            </a:solidFill>
            <a:prstDash val="solid"/>
          </a:ln>
        </p:spPr>
      </p:sp>
      <p:sp>
        <p:nvSpPr>
          <p:cNvPr id="5" name="Shape 3"/>
          <p:cNvSpPr/>
          <p:nvPr/>
        </p:nvSpPr>
        <p:spPr>
          <a:xfrm>
            <a:off x="786384" y="1645920"/>
            <a:ext cx="384048" cy="384048"/>
          </a:xfrm>
          <a:prstGeom prst="ellipse">
            <a:avLst/>
          </a:prstGeom>
          <a:solidFill>
            <a:srgbClr val="B85042"/>
          </a:solidFill>
          <a:ln/>
        </p:spPr>
      </p:sp>
      <p:sp>
        <p:nvSpPr>
          <p:cNvPr id="6" name="Text 4"/>
          <p:cNvSpPr txBox="1"/>
          <p:nvPr/>
        </p:nvSpPr>
        <p:spPr>
          <a:xfrm>
            <a:off x="786384" y="1645920"/>
            <a:ext cx="384048" cy="384048"/>
          </a:xfrm>
          <a:prstGeom prst="rect">
            <a:avLst/>
          </a:prstGeom>
          <a:noFill/>
          <a:ln/>
        </p:spPr>
        <p:txBody>
          <a:bodyPr wrap="square" lIns="0" tIns="0" rIns="0" bIns="0" rtlCol="0" anchor="ctr"/>
          <a:lstStyle/>
          <a:p>
            <a:pPr algn="ctr" indent="0" marL="0">
              <a:buNone/>
            </a:pPr>
            <a:r>
              <a:rPr lang="en-US" sz="1300" b="1" dirty="0">
                <a:solidFill>
                  <a:srgbClr val="0B3C49"/>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786384" y="2139696"/>
            <a:ext cx="3029712" cy="713232"/>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Paggo concentra su mensaje</a:t>
            </a:r>
            <a:endParaRPr lang="en-US" sz="1400" dirty="0"/>
          </a:p>
        </p:txBody>
      </p:sp>
      <p:sp>
        <p:nvSpPr>
          <p:cNvPr id="8" name="Text 6"/>
          <p:cNvSpPr txBox="1"/>
          <p:nvPr/>
        </p:nvSpPr>
        <p:spPr>
          <a:xfrm>
            <a:off x="786384" y="2871216"/>
            <a:ext cx="3029712" cy="123444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74% de los anuncios observados de Paggo usan el titular "Gestiona tu Negocio Fácil".</a:t>
            </a:r>
            <a:endParaRPr lang="en-US" sz="1150" dirty="0"/>
          </a:p>
        </p:txBody>
      </p:sp>
      <p:sp>
        <p:nvSpPr>
          <p:cNvPr id="9" name="Text 7"/>
          <p:cNvSpPr txBox="1"/>
          <p:nvPr/>
        </p:nvSpPr>
        <p:spPr>
          <a:xfrm>
            <a:off x="786384" y="4352544"/>
            <a:ext cx="3029712" cy="201168"/>
          </a:xfrm>
          <a:prstGeom prst="rect">
            <a:avLst/>
          </a:prstGeom>
          <a:noFill/>
          <a:ln/>
        </p:spPr>
        <p:txBody>
          <a:bodyPr wrap="square" lIns="0" tIns="0" rIns="0" bIns="0" rtlCol="0" anchor="ctr"/>
          <a:lstStyle/>
          <a:p>
            <a:pPr indent="0" marL="0">
              <a:buNone/>
            </a:pPr>
            <a:r>
              <a:rPr lang="en-US" sz="850" b="1" spc="100" kern="0" dirty="0">
                <a:solidFill>
                  <a:srgbClr val="9DB7BF"/>
                </a:solidFill>
                <a:latin typeface="Calibri" pitchFamily="34" charset="0"/>
                <a:ea typeface="Calibri" pitchFamily="34" charset="-122"/>
                <a:cs typeface="Calibri" pitchFamily="34" charset="-120"/>
              </a:rPr>
              <a:t>EVIDENCIA</a:t>
            </a:r>
            <a:endParaRPr lang="en-US" sz="850" dirty="0"/>
          </a:p>
        </p:txBody>
      </p:sp>
      <p:sp>
        <p:nvSpPr>
          <p:cNvPr id="10" name="Text 8"/>
          <p:cNvSpPr txBox="1"/>
          <p:nvPr/>
        </p:nvSpPr>
        <p:spPr>
          <a:xfrm>
            <a:off x="786384" y="4553712"/>
            <a:ext cx="3029712" cy="530352"/>
          </a:xfrm>
          <a:prstGeom prst="rect">
            <a:avLst/>
          </a:prstGeom>
          <a:noFill/>
          <a:ln/>
        </p:spPr>
        <p:txBody>
          <a:bodyPr wrap="square" lIns="0" tIns="0" rIns="0" bIns="0" rtlCol="0" anchor="t"/>
          <a:lstStyle/>
          <a:p>
            <a:pPr indent="0" marL="0">
              <a:buNone/>
            </a:pPr>
            <a:r>
              <a:rPr lang="en-US" sz="900" dirty="0">
                <a:solidFill>
                  <a:srgbClr val="9DB7BF"/>
                </a:solidFill>
                <a:latin typeface="Calibri" pitchFamily="34" charset="0"/>
                <a:ea typeface="Calibri" pitchFamily="34" charset="-122"/>
                <a:cs typeface="Calibri" pitchFamily="34" charset="-120"/>
              </a:rPr>
              <a:t>Titular dominante de Paggo: "Gestiona tu Negocio Fácil" en 23 de 31 anuncios</a:t>
            </a:r>
            <a:endParaRPr lang="en-US" sz="900" dirty="0"/>
          </a:p>
        </p:txBody>
      </p:sp>
      <p:sp>
        <p:nvSpPr>
          <p:cNvPr id="11" name="Shape 9"/>
          <p:cNvSpPr/>
          <p:nvPr/>
        </p:nvSpPr>
        <p:spPr>
          <a:xfrm>
            <a:off x="4328160" y="1417320"/>
            <a:ext cx="3505200" cy="3703320"/>
          </a:xfrm>
          <a:prstGeom prst="roundRect">
            <a:avLst>
              <a:gd name="adj" fmla="val 2087"/>
            </a:avLst>
          </a:prstGeom>
          <a:solidFill>
            <a:srgbClr val="FFFFFF">
              <a:alpha val="8000"/>
            </a:srgbClr>
          </a:solidFill>
          <a:ln w="19050">
            <a:solidFill>
              <a:srgbClr val="B85042"/>
            </a:solidFill>
            <a:prstDash val="solid"/>
          </a:ln>
        </p:spPr>
      </p:sp>
      <p:sp>
        <p:nvSpPr>
          <p:cNvPr id="12" name="Shape 10"/>
          <p:cNvSpPr/>
          <p:nvPr/>
        </p:nvSpPr>
        <p:spPr>
          <a:xfrm>
            <a:off x="4565904" y="1645920"/>
            <a:ext cx="384048" cy="384048"/>
          </a:xfrm>
          <a:prstGeom prst="ellipse">
            <a:avLst/>
          </a:prstGeom>
          <a:solidFill>
            <a:srgbClr val="B85042"/>
          </a:solidFill>
          <a:ln/>
        </p:spPr>
      </p:sp>
      <p:sp>
        <p:nvSpPr>
          <p:cNvPr id="13" name="Text 11"/>
          <p:cNvSpPr txBox="1"/>
          <p:nvPr/>
        </p:nvSpPr>
        <p:spPr>
          <a:xfrm>
            <a:off x="4565904" y="1645920"/>
            <a:ext cx="384048" cy="384048"/>
          </a:xfrm>
          <a:prstGeom prst="rect">
            <a:avLst/>
          </a:prstGeom>
          <a:noFill/>
          <a:ln/>
        </p:spPr>
        <p:txBody>
          <a:bodyPr wrap="square" lIns="0" tIns="0" rIns="0" bIns="0" rtlCol="0" anchor="ctr"/>
          <a:lstStyle/>
          <a:p>
            <a:pPr algn="ctr" indent="0" marL="0">
              <a:buNone/>
            </a:pPr>
            <a:r>
              <a:rPr lang="en-US" sz="1300" b="1" dirty="0">
                <a:solidFill>
                  <a:srgbClr val="0B3C49"/>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4565904" y="2139696"/>
            <a:ext cx="3029712" cy="713232"/>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Paggo está escalando ahora</a:t>
            </a:r>
            <a:endParaRPr lang="en-US" sz="1400" dirty="0"/>
          </a:p>
        </p:txBody>
      </p:sp>
      <p:sp>
        <p:nvSpPr>
          <p:cNvPr id="15" name="Text 13"/>
          <p:cNvSpPr txBox="1"/>
          <p:nvPr/>
        </p:nvSpPr>
        <p:spPr>
          <a:xfrm>
            <a:off x="4565904" y="2871216"/>
            <a:ext cx="3029712" cy="123444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68% del inventario activo observado de Paggo se lanzó en los últimos 10 días. No es un estado estable.</a:t>
            </a:r>
            <a:endParaRPr lang="en-US" sz="1150" dirty="0"/>
          </a:p>
        </p:txBody>
      </p:sp>
      <p:sp>
        <p:nvSpPr>
          <p:cNvPr id="16" name="Text 14"/>
          <p:cNvSpPr txBox="1"/>
          <p:nvPr/>
        </p:nvSpPr>
        <p:spPr>
          <a:xfrm>
            <a:off x="4565904" y="4352544"/>
            <a:ext cx="3029712" cy="201168"/>
          </a:xfrm>
          <a:prstGeom prst="rect">
            <a:avLst/>
          </a:prstGeom>
          <a:noFill/>
          <a:ln/>
        </p:spPr>
        <p:txBody>
          <a:bodyPr wrap="square" lIns="0" tIns="0" rIns="0" bIns="0" rtlCol="0" anchor="ctr"/>
          <a:lstStyle/>
          <a:p>
            <a:pPr indent="0" marL="0">
              <a:buNone/>
            </a:pPr>
            <a:r>
              <a:rPr lang="en-US" sz="850" b="1" spc="100" kern="0" dirty="0">
                <a:solidFill>
                  <a:srgbClr val="9DB7BF"/>
                </a:solidFill>
                <a:latin typeface="Calibri" pitchFamily="34" charset="0"/>
                <a:ea typeface="Calibri" pitchFamily="34" charset="-122"/>
                <a:cs typeface="Calibri" pitchFamily="34" charset="-120"/>
              </a:rPr>
              <a:t>EVIDENCIA</a:t>
            </a:r>
            <a:endParaRPr lang="en-US" sz="850" dirty="0"/>
          </a:p>
        </p:txBody>
      </p:sp>
      <p:sp>
        <p:nvSpPr>
          <p:cNvPr id="17" name="Text 15"/>
          <p:cNvSpPr txBox="1"/>
          <p:nvPr/>
        </p:nvSpPr>
        <p:spPr>
          <a:xfrm>
            <a:off x="4565904" y="4553712"/>
            <a:ext cx="3029712" cy="530352"/>
          </a:xfrm>
          <a:prstGeom prst="rect">
            <a:avLst/>
          </a:prstGeom>
          <a:noFill/>
          <a:ln/>
        </p:spPr>
        <p:txBody>
          <a:bodyPr wrap="square" lIns="0" tIns="0" rIns="0" bIns="0" rtlCol="0" anchor="t"/>
          <a:lstStyle/>
          <a:p>
            <a:pPr indent="0" marL="0">
              <a:buNone/>
            </a:pPr>
            <a:r>
              <a:rPr lang="en-US" sz="900" dirty="0">
                <a:solidFill>
                  <a:srgbClr val="9DB7BF"/>
                </a:solidFill>
                <a:latin typeface="Calibri" pitchFamily="34" charset="0"/>
                <a:ea typeface="Calibri" pitchFamily="34" charset="-122"/>
                <a:cs typeface="Calibri" pitchFamily="34" charset="-120"/>
              </a:rPr>
              <a:t>Lanzamientos recientes de Paggo: 21 de 31 anuncios en los últimos 10 días</a:t>
            </a:r>
            <a:endParaRPr lang="en-US" sz="900" dirty="0"/>
          </a:p>
          <a:p>
            <a:pPr indent="0" marL="0">
              <a:buNone/>
            </a:pPr>
            <a:r>
              <a:rPr lang="en-US" sz="900" dirty="0">
                <a:solidFill>
                  <a:srgbClr val="9DB7BF"/>
                </a:solidFill>
                <a:latin typeface="Calibri" pitchFamily="34" charset="0"/>
                <a:ea typeface="Calibri" pitchFamily="34" charset="-122"/>
                <a:cs typeface="Calibri" pitchFamily="34" charset="-120"/>
              </a:rPr>
              <a:t>Cohorte más grande: 16 anuncios creados el 2026-08-24 (hace 3 días)</a:t>
            </a:r>
            <a:endParaRPr lang="en-US" sz="900" dirty="0"/>
          </a:p>
        </p:txBody>
      </p:sp>
      <p:sp>
        <p:nvSpPr>
          <p:cNvPr id="18" name="Shape 16"/>
          <p:cNvSpPr/>
          <p:nvPr/>
        </p:nvSpPr>
        <p:spPr>
          <a:xfrm>
            <a:off x="8107680" y="1417320"/>
            <a:ext cx="3505200" cy="3703320"/>
          </a:xfrm>
          <a:prstGeom prst="roundRect">
            <a:avLst>
              <a:gd name="adj" fmla="val 2087"/>
            </a:avLst>
          </a:prstGeom>
          <a:solidFill>
            <a:srgbClr val="FFFFFF">
              <a:alpha val="8000"/>
            </a:srgbClr>
          </a:solidFill>
          <a:ln w="19050">
            <a:solidFill>
              <a:srgbClr val="B85042"/>
            </a:solidFill>
            <a:prstDash val="solid"/>
          </a:ln>
        </p:spPr>
      </p:sp>
      <p:sp>
        <p:nvSpPr>
          <p:cNvPr id="19" name="Shape 17"/>
          <p:cNvSpPr/>
          <p:nvPr/>
        </p:nvSpPr>
        <p:spPr>
          <a:xfrm>
            <a:off x="8345424" y="1645920"/>
            <a:ext cx="384048" cy="384048"/>
          </a:xfrm>
          <a:prstGeom prst="ellipse">
            <a:avLst/>
          </a:prstGeom>
          <a:solidFill>
            <a:srgbClr val="B85042"/>
          </a:solidFill>
          <a:ln/>
        </p:spPr>
      </p:sp>
      <p:sp>
        <p:nvSpPr>
          <p:cNvPr id="20" name="Text 18"/>
          <p:cNvSpPr txBox="1"/>
          <p:nvPr/>
        </p:nvSpPr>
        <p:spPr>
          <a:xfrm>
            <a:off x="8345424" y="1645920"/>
            <a:ext cx="384048" cy="384048"/>
          </a:xfrm>
          <a:prstGeom prst="rect">
            <a:avLst/>
          </a:prstGeom>
          <a:noFill/>
          <a:ln/>
        </p:spPr>
        <p:txBody>
          <a:bodyPr wrap="square" lIns="0" tIns="0" rIns="0" bIns="0" rtlCol="0" anchor="ctr"/>
          <a:lstStyle/>
          <a:p>
            <a:pPr algn="ctr" indent="0" marL="0">
              <a:buNone/>
            </a:pPr>
            <a:r>
              <a:rPr lang="en-US" sz="1300" b="1" dirty="0">
                <a:solidFill>
                  <a:srgbClr val="0B3C49"/>
                </a:solidFill>
                <a:latin typeface="Calibri" pitchFamily="34" charset="0"/>
                <a:ea typeface="Calibri" pitchFamily="34" charset="-122"/>
                <a:cs typeface="Calibri" pitchFamily="34" charset="-120"/>
              </a:rPr>
              <a:t>3</a:t>
            </a:r>
            <a:endParaRPr lang="en-US" sz="1300" dirty="0"/>
          </a:p>
        </p:txBody>
      </p:sp>
      <p:sp>
        <p:nvSpPr>
          <p:cNvPr id="21" name="Text 19"/>
          <p:cNvSpPr txBox="1"/>
          <p:nvPr/>
        </p:nvSpPr>
        <p:spPr>
          <a:xfrm>
            <a:off x="8345424" y="2139696"/>
            <a:ext cx="3029712" cy="713232"/>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Recurrente concentra su mensaje</a:t>
            </a:r>
            <a:endParaRPr lang="en-US" sz="1400" dirty="0"/>
          </a:p>
        </p:txBody>
      </p:sp>
      <p:sp>
        <p:nvSpPr>
          <p:cNvPr id="22" name="Text 20"/>
          <p:cNvSpPr txBox="1"/>
          <p:nvPr/>
        </p:nvSpPr>
        <p:spPr>
          <a:xfrm>
            <a:off x="8345424" y="2871216"/>
            <a:ext cx="3029712" cy="123444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50% de los anuncios observados de Recurrente usan el titular "Recibe pagos con oro digital".</a:t>
            </a:r>
            <a:endParaRPr lang="en-US" sz="1150" dirty="0"/>
          </a:p>
        </p:txBody>
      </p:sp>
      <p:sp>
        <p:nvSpPr>
          <p:cNvPr id="23" name="Text 21"/>
          <p:cNvSpPr txBox="1"/>
          <p:nvPr/>
        </p:nvSpPr>
        <p:spPr>
          <a:xfrm>
            <a:off x="8345424" y="4352544"/>
            <a:ext cx="3029712" cy="201168"/>
          </a:xfrm>
          <a:prstGeom prst="rect">
            <a:avLst/>
          </a:prstGeom>
          <a:noFill/>
          <a:ln/>
        </p:spPr>
        <p:txBody>
          <a:bodyPr wrap="square" lIns="0" tIns="0" rIns="0" bIns="0" rtlCol="0" anchor="ctr"/>
          <a:lstStyle/>
          <a:p>
            <a:pPr indent="0" marL="0">
              <a:buNone/>
            </a:pPr>
            <a:r>
              <a:rPr lang="en-US" sz="850" b="1" spc="100" kern="0" dirty="0">
                <a:solidFill>
                  <a:srgbClr val="9DB7BF"/>
                </a:solidFill>
                <a:latin typeface="Calibri" pitchFamily="34" charset="0"/>
                <a:ea typeface="Calibri" pitchFamily="34" charset="-122"/>
                <a:cs typeface="Calibri" pitchFamily="34" charset="-120"/>
              </a:rPr>
              <a:t>EVIDENCIA</a:t>
            </a:r>
            <a:endParaRPr lang="en-US" sz="850" dirty="0"/>
          </a:p>
        </p:txBody>
      </p:sp>
      <p:sp>
        <p:nvSpPr>
          <p:cNvPr id="24" name="Text 22"/>
          <p:cNvSpPr txBox="1"/>
          <p:nvPr/>
        </p:nvSpPr>
        <p:spPr>
          <a:xfrm>
            <a:off x="8345424" y="4553712"/>
            <a:ext cx="3029712" cy="530352"/>
          </a:xfrm>
          <a:prstGeom prst="rect">
            <a:avLst/>
          </a:prstGeom>
          <a:noFill/>
          <a:ln/>
        </p:spPr>
        <p:txBody>
          <a:bodyPr wrap="square" lIns="0" tIns="0" rIns="0" bIns="0" rtlCol="0" anchor="t"/>
          <a:lstStyle/>
          <a:p>
            <a:pPr indent="0" marL="0">
              <a:buNone/>
            </a:pPr>
            <a:r>
              <a:rPr lang="en-US" sz="900" dirty="0">
                <a:solidFill>
                  <a:srgbClr val="9DB7BF"/>
                </a:solidFill>
                <a:latin typeface="Calibri" pitchFamily="34" charset="0"/>
                <a:ea typeface="Calibri" pitchFamily="34" charset="-122"/>
                <a:cs typeface="Calibri" pitchFamily="34" charset="-120"/>
              </a:rPr>
              <a:t>Titular dominante de Recurrente: "Recibe pagos con oro digital" en 3 de 6 anuncios</a:t>
            </a:r>
            <a:endParaRPr lang="en-US" sz="900" dirty="0"/>
          </a:p>
        </p:txBody>
      </p:sp>
      <p:sp>
        <p:nvSpPr>
          <p:cNvPr id="25" name="Text 23"/>
          <p:cNvSpPr txBox="1"/>
          <p:nvPr/>
        </p:nvSpPr>
        <p:spPr>
          <a:xfrm>
            <a:off x="548640" y="5349240"/>
            <a:ext cx="11064240" cy="256032"/>
          </a:xfrm>
          <a:prstGeom prst="rect">
            <a:avLst/>
          </a:prstGeom>
          <a:noFill/>
          <a:ln/>
        </p:spPr>
        <p:txBody>
          <a:bodyPr wrap="square" lIns="0" tIns="0" rIns="0" bIns="0" rtlCol="0" anchor="ctr"/>
          <a:lstStyle/>
          <a:p>
            <a:pPr indent="0" marL="0">
              <a:buNone/>
            </a:pPr>
            <a:r>
              <a:rPr lang="en-US" sz="1000" i="1" dirty="0">
                <a:solidFill>
                  <a:srgbClr val="9DB7BF"/>
                </a:solidFill>
                <a:latin typeface="Calibri" pitchFamily="34" charset="0"/>
                <a:ea typeface="Calibri" pitchFamily="34" charset="-122"/>
                <a:cs typeface="Calibri" pitchFamily="34" charset="-120"/>
              </a:rPr>
              <a:t>+ 1 hallazgo(s) más en el anexo de la corrida.</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8"/>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219456"/>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PASO 7 · PLAN DE PRODUCCIÓN</a:t>
            </a:r>
            <a:endParaRPr lang="en-US" sz="1100" dirty="0"/>
          </a:p>
        </p:txBody>
      </p:sp>
      <p:sp>
        <p:nvSpPr>
          <p:cNvPr id="3" name="Text 1"/>
          <p:cNvSpPr txBox="1"/>
          <p:nvPr/>
        </p:nvSpPr>
        <p:spPr>
          <a:xfrm>
            <a:off x="548640" y="621792"/>
            <a:ext cx="11064240" cy="566928"/>
          </a:xfrm>
          <a:prstGeom prst="rect">
            <a:avLst/>
          </a:prstGeom>
          <a:noFill/>
          <a:ln/>
        </p:spPr>
        <p:txBody>
          <a:bodyPr wrap="square" lIns="0" tIns="0" rIns="0" bIns="0" rtlCol="0" anchor="ctr"/>
          <a:lstStyle/>
          <a:p>
            <a:pPr indent="0" marL="0">
              <a:buNone/>
            </a:pPr>
            <a:r>
              <a:rPr lang="en-US" sz="3400" b="1" dirty="0">
                <a:solidFill>
                  <a:srgbClr val="0B3C49"/>
                </a:solidFill>
                <a:latin typeface="Cambria" pitchFamily="34" charset="0"/>
                <a:ea typeface="Cambria" pitchFamily="34" charset="-122"/>
                <a:cs typeface="Cambria" pitchFamily="34" charset="-120"/>
              </a:rPr>
              <a:t>Las cantidades salen del dato</a:t>
            </a:r>
            <a:endParaRPr lang="en-US" sz="3400" dirty="0"/>
          </a:p>
        </p:txBody>
      </p:sp>
      <p:sp>
        <p:nvSpPr>
          <p:cNvPr id="4" name="Shape 2"/>
          <p:cNvSpPr/>
          <p:nvPr/>
        </p:nvSpPr>
        <p:spPr>
          <a:xfrm>
            <a:off x="548640" y="1325880"/>
            <a:ext cx="1965960" cy="384048"/>
          </a:xfrm>
          <a:prstGeom prst="roundRect">
            <a:avLst>
              <a:gd name="adj" fmla="val 47619"/>
            </a:avLst>
          </a:prstGeom>
          <a:solidFill>
            <a:srgbClr val="02C39A"/>
          </a:solidFill>
          <a:ln w="19050">
            <a:solidFill>
              <a:srgbClr val="02C39A"/>
            </a:solidFill>
            <a:prstDash val="solid"/>
          </a:ln>
        </p:spPr>
      </p:sp>
      <p:sp>
        <p:nvSpPr>
          <p:cNvPr id="5" name="Text 3"/>
          <p:cNvSpPr txBox="1"/>
          <p:nvPr/>
        </p:nvSpPr>
        <p:spPr>
          <a:xfrm>
            <a:off x="548640" y="1325880"/>
            <a:ext cx="1965960" cy="384048"/>
          </a:xfrm>
          <a:prstGeom prst="rect">
            <a:avLst/>
          </a:prstGeom>
          <a:noFill/>
          <a:ln/>
        </p:spPr>
        <p:txBody>
          <a:bodyPr wrap="square" lIns="0" tIns="0" rIns="0" bIns="0" rtlCol="0" anchor="ctr"/>
          <a:lstStyle/>
          <a:p>
            <a:pPr algn="ctr" indent="0" marL="0">
              <a:buNone/>
            </a:pPr>
            <a:r>
              <a:rPr lang="en-US" sz="1100" b="1" dirty="0">
                <a:solidFill>
                  <a:srgbClr val="0B3C49"/>
                </a:solidFill>
                <a:latin typeface="Calibri" pitchFamily="34" charset="0"/>
                <a:ea typeface="Calibri" pitchFamily="34" charset="-122"/>
                <a:cs typeface="Calibri" pitchFamily="34" charset="-120"/>
              </a:rPr>
              <a:t>1 CUANTIFICADAS</a:t>
            </a:r>
            <a:endParaRPr lang="en-US" sz="1100" dirty="0"/>
          </a:p>
        </p:txBody>
      </p:sp>
      <p:sp>
        <p:nvSpPr>
          <p:cNvPr id="6" name="Shape 4"/>
          <p:cNvSpPr/>
          <p:nvPr/>
        </p:nvSpPr>
        <p:spPr>
          <a:xfrm>
            <a:off x="2697480" y="1325880"/>
            <a:ext cx="1965960" cy="384048"/>
          </a:xfrm>
          <a:prstGeom prst="roundRect">
            <a:avLst>
              <a:gd name="adj" fmla="val 47619"/>
            </a:avLst>
          </a:prstGeom>
          <a:solidFill>
            <a:srgbClr val="FFFFFF"/>
          </a:solidFill>
          <a:ln w="19050">
            <a:solidFill>
              <a:srgbClr val="E8A33D"/>
            </a:solidFill>
            <a:prstDash val="solid"/>
          </a:ln>
        </p:spPr>
      </p:sp>
      <p:sp>
        <p:nvSpPr>
          <p:cNvPr id="7" name="Text 5"/>
          <p:cNvSpPr txBox="1"/>
          <p:nvPr/>
        </p:nvSpPr>
        <p:spPr>
          <a:xfrm>
            <a:off x="2697480" y="1325880"/>
            <a:ext cx="1965960" cy="384048"/>
          </a:xfrm>
          <a:prstGeom prst="rect">
            <a:avLst/>
          </a:prstGeom>
          <a:noFill/>
          <a:ln/>
        </p:spPr>
        <p:txBody>
          <a:bodyPr wrap="square" lIns="0" tIns="0" rIns="0" bIns="0" rtlCol="0" anchor="ctr"/>
          <a:lstStyle/>
          <a:p>
            <a:pPr algn="ctr" indent="0" marL="0">
              <a:buNone/>
            </a:pPr>
            <a:r>
              <a:rPr lang="en-US" sz="1100" b="1" dirty="0">
                <a:solidFill>
                  <a:srgbClr val="E8A33D"/>
                </a:solidFill>
                <a:latin typeface="Calibri" pitchFamily="34" charset="0"/>
                <a:ea typeface="Calibri" pitchFamily="34" charset="-122"/>
                <a:cs typeface="Calibri" pitchFamily="34" charset="-120"/>
              </a:rPr>
              <a:t>3 SIN DATO</a:t>
            </a:r>
            <a:endParaRPr lang="en-US" sz="1100" dirty="0"/>
          </a:p>
        </p:txBody>
      </p:sp>
      <p:sp>
        <p:nvSpPr>
          <p:cNvPr id="8" name="Shape 6"/>
          <p:cNvSpPr/>
          <p:nvPr/>
        </p:nvSpPr>
        <p:spPr>
          <a:xfrm>
            <a:off x="548640" y="1965960"/>
            <a:ext cx="11064240" cy="1572768"/>
          </a:xfrm>
          <a:prstGeom prst="roundRect">
            <a:avLst>
              <a:gd name="adj" fmla="val 4651"/>
            </a:avLst>
          </a:prstGeom>
          <a:solidFill>
            <a:srgbClr val="FFFFFF"/>
          </a:solidFill>
          <a:ln w="25400">
            <a:solidFill>
              <a:srgbClr val="02C39A"/>
            </a:solidFill>
            <a:prstDash val="solid"/>
          </a:ln>
          <a:effectLst>
            <a:outerShdw sx="100000" sy="100000" kx="0" ky="0" algn="bl" rotWithShape="0" blurRad="101600" dist="12700" dir="5400000">
              <a:srgbClr val="000000">
                <a:alpha val="6000"/>
              </a:srgbClr>
            </a:outerShdw>
          </a:effectLst>
        </p:spPr>
      </p:sp>
      <p:sp>
        <p:nvSpPr>
          <p:cNvPr id="9" name="Text 7"/>
          <p:cNvSpPr txBox="1"/>
          <p:nvPr/>
        </p:nvSpPr>
        <p:spPr>
          <a:xfrm>
            <a:off x="822960" y="2112264"/>
            <a:ext cx="6858000" cy="292608"/>
          </a:xfrm>
          <a:prstGeom prst="rect">
            <a:avLst/>
          </a:prstGeom>
          <a:noFill/>
          <a:ln/>
        </p:spPr>
        <p:txBody>
          <a:bodyPr wrap="square" lIns="0" tIns="0" rIns="0" bIns="0" rtlCol="0" anchor="ctr"/>
          <a:lstStyle/>
          <a:p>
            <a:pPr indent="0" marL="0">
              <a:buNone/>
            </a:pPr>
            <a:r>
              <a:rPr lang="en-US" sz="1400" b="1" dirty="0">
                <a:solidFill>
                  <a:srgbClr val="0B3C49"/>
                </a:solidFill>
                <a:latin typeface="Calibri" pitchFamily="34" charset="0"/>
                <a:ea typeface="Calibri" pitchFamily="34" charset="-122"/>
                <a:cs typeface="Calibri" pitchFamily="34" charset="-120"/>
              </a:rPr>
              <a:t>Revisar la campaña con mayor oportunidad de reasignación</a:t>
            </a:r>
            <a:endParaRPr lang="en-US" sz="1400" dirty="0"/>
          </a:p>
        </p:txBody>
      </p:sp>
      <p:sp>
        <p:nvSpPr>
          <p:cNvPr id="10" name="Text 8"/>
          <p:cNvSpPr txBox="1"/>
          <p:nvPr/>
        </p:nvSpPr>
        <p:spPr>
          <a:xfrm>
            <a:off x="822960" y="2423160"/>
            <a:ext cx="6858000" cy="512064"/>
          </a:xfrm>
          <a:prstGeom prst="rect">
            <a:avLst/>
          </a:prstGeom>
          <a:noFill/>
          <a:ln/>
        </p:spPr>
        <p:txBody>
          <a:bodyPr wrap="square" lIns="0" tIns="0" rIns="0" bIns="0" rtlCol="0" anchor="t"/>
          <a:lstStyle/>
          <a:p>
            <a:pPr indent="0" marL="0">
              <a:buNone/>
            </a:pPr>
            <a:r>
              <a:rPr lang="en-US" sz="1100" dirty="0">
                <a:solidFill>
                  <a:srgbClr val="1A2B31"/>
                </a:solidFill>
                <a:latin typeface="Calibri" pitchFamily="34" charset="0"/>
                <a:ea typeface="Calibri" pitchFamily="34" charset="-122"/>
                <a:cs typeface="Calibri" pitchFamily="34" charset="-120"/>
              </a:rPr>
              <a:t>Llevar a la mesa la diferencia de costo entre 'Campaña Qpaypro Guatemala Nueva [GT]' y 'Campaña Punto de Venta SV [SV]' y decidir si se reasigna presupuesto o se investiga la causa.</a:t>
            </a:r>
            <a:endParaRPr lang="en-US" sz="1100" dirty="0"/>
          </a:p>
        </p:txBody>
      </p:sp>
      <p:sp>
        <p:nvSpPr>
          <p:cNvPr id="11" name="Text 9"/>
          <p:cNvSpPr txBox="1"/>
          <p:nvPr/>
        </p:nvSpPr>
        <p:spPr>
          <a:xfrm>
            <a:off x="822960" y="2953512"/>
            <a:ext cx="6858000" cy="475488"/>
          </a:xfrm>
          <a:prstGeom prst="rect">
            <a:avLst/>
          </a:prstGeom>
          <a:noFill/>
          <a:ln/>
        </p:spPr>
        <p:txBody>
          <a:bodyPr wrap="square" lIns="0" tIns="0" rIns="0" bIns="0" rtlCol="0" anchor="t"/>
          <a:lstStyle/>
          <a:p>
            <a:pPr indent="0" marL="0">
              <a:buNone/>
            </a:pPr>
            <a:r>
              <a:rPr lang="en-US" sz="850" dirty="0">
                <a:solidFill>
                  <a:srgbClr val="5A6B72"/>
                </a:solidFill>
                <a:latin typeface="Courier New" pitchFamily="34" charset="0"/>
                <a:ea typeface="Courier New" pitchFamily="34" charset="-122"/>
                <a:cs typeface="Courier New" pitchFamily="34" charset="-120"/>
              </a:rPr>
              <a:t>'Campaña Qpaypro Guatemala Nueva [GT]' gastó $380.68 a $4.01 = 95 resultados. Al costo de 'Campaña Punto de Venta SV [SV]' ($1.89) ese mismo monto equivale a 201, 106 más. Se eligió esta campaña por mayor oportunidad absoluta, no por peor costo unitario</a:t>
            </a:r>
            <a:endParaRPr lang="en-US" sz="850" dirty="0"/>
          </a:p>
        </p:txBody>
      </p:sp>
      <p:sp>
        <p:nvSpPr>
          <p:cNvPr id="12" name="Text 10"/>
          <p:cNvSpPr txBox="1"/>
          <p:nvPr/>
        </p:nvSpPr>
        <p:spPr>
          <a:xfrm>
            <a:off x="7635240" y="2221992"/>
            <a:ext cx="3703320" cy="713232"/>
          </a:xfrm>
          <a:prstGeom prst="rect">
            <a:avLst/>
          </a:prstGeom>
          <a:noFill/>
          <a:ln/>
        </p:spPr>
        <p:txBody>
          <a:bodyPr wrap="square" lIns="0" tIns="0" rIns="0" bIns="0" rtlCol="0" anchor="ctr"/>
          <a:lstStyle/>
          <a:p>
            <a:pPr algn="ctr" indent="0" marL="0">
              <a:buNone/>
            </a:pPr>
            <a:r>
              <a:rPr lang="en-US" sz="4600" b="1" dirty="0">
                <a:solidFill>
                  <a:srgbClr val="02C39A"/>
                </a:solidFill>
                <a:latin typeface="Cambria" pitchFamily="34" charset="0"/>
                <a:ea typeface="Cambria" pitchFamily="34" charset="-122"/>
                <a:cs typeface="Cambria" pitchFamily="34" charset="-120"/>
              </a:rPr>
              <a:t>106</a:t>
            </a:r>
            <a:endParaRPr lang="en-US" sz="4600" dirty="0"/>
          </a:p>
        </p:txBody>
      </p:sp>
      <p:sp>
        <p:nvSpPr>
          <p:cNvPr id="13" name="Text 11"/>
          <p:cNvSpPr txBox="1"/>
          <p:nvPr/>
        </p:nvSpPr>
        <p:spPr>
          <a:xfrm>
            <a:off x="7635240" y="2935224"/>
            <a:ext cx="3703320" cy="457200"/>
          </a:xfrm>
          <a:prstGeom prst="rect">
            <a:avLst/>
          </a:prstGeom>
          <a:noFill/>
          <a:ln/>
        </p:spPr>
        <p:txBody>
          <a:bodyPr wrap="square" lIns="0" tIns="0" rIns="0" bIns="0" rtlCol="0" anchor="t"/>
          <a:lstStyle/>
          <a:p>
            <a:pPr algn="ctr" indent="0" marL="0">
              <a:buNone/>
            </a:pPr>
            <a:r>
              <a:rPr lang="en-US" sz="1050" dirty="0">
                <a:solidFill>
                  <a:srgbClr val="5A6B72"/>
                </a:solidFill>
                <a:latin typeface="Calibri" pitchFamily="34" charset="0"/>
                <a:ea typeface="Calibri" pitchFamily="34" charset="-122"/>
                <a:cs typeface="Calibri" pitchFamily="34" charset="-120"/>
              </a:rPr>
              <a:t>resultados de diferencia en el periodo</a:t>
            </a:r>
            <a:endParaRPr lang="en-US" sz="1050" dirty="0"/>
          </a:p>
        </p:txBody>
      </p:sp>
      <p:sp>
        <p:nvSpPr>
          <p:cNvPr id="14" name="Shape 12"/>
          <p:cNvSpPr/>
          <p:nvPr/>
        </p:nvSpPr>
        <p:spPr>
          <a:xfrm>
            <a:off x="548640" y="3840480"/>
            <a:ext cx="11064240" cy="1005840"/>
          </a:xfrm>
          <a:prstGeom prst="roundRect">
            <a:avLst>
              <a:gd name="adj" fmla="val 7273"/>
            </a:avLst>
          </a:prstGeom>
          <a:solidFill>
            <a:srgbClr val="FDF3E3"/>
          </a:solidFill>
          <a:ln w="19050">
            <a:solidFill>
              <a:srgbClr val="E8A33D"/>
            </a:solidFill>
            <a:prstDash val="solid"/>
          </a:ln>
        </p:spPr>
      </p:sp>
      <p:sp>
        <p:nvSpPr>
          <p:cNvPr id="15" name="Text 13"/>
          <p:cNvSpPr txBox="1"/>
          <p:nvPr/>
        </p:nvSpPr>
        <p:spPr>
          <a:xfrm>
            <a:off x="822960" y="3995928"/>
            <a:ext cx="10515600" cy="219456"/>
          </a:xfrm>
          <a:prstGeom prst="rect">
            <a:avLst/>
          </a:prstGeom>
          <a:noFill/>
          <a:ln/>
        </p:spPr>
        <p:txBody>
          <a:bodyPr wrap="square" lIns="0" tIns="0" rIns="0" bIns="0" rtlCol="0" anchor="ctr"/>
          <a:lstStyle/>
          <a:p>
            <a:pPr indent="0" marL="0">
              <a:buNone/>
            </a:pPr>
            <a:r>
              <a:rPr lang="en-US" sz="950" b="1" spc="100" kern="0" dirty="0">
                <a:solidFill>
                  <a:srgbClr val="E8A33D"/>
                </a:solidFill>
                <a:latin typeface="Calibri" pitchFamily="34" charset="0"/>
                <a:ea typeface="Calibri" pitchFamily="34" charset="-122"/>
                <a:cs typeface="Calibri" pitchFamily="34" charset="-120"/>
              </a:rPr>
              <a:t>CÓMO LEER ESTE NÚMERO</a:t>
            </a:r>
            <a:endParaRPr lang="en-US" sz="950" dirty="0"/>
          </a:p>
        </p:txBody>
      </p:sp>
      <p:sp>
        <p:nvSpPr>
          <p:cNvPr id="16" name="Text 14"/>
          <p:cNvSpPr txBox="1"/>
          <p:nvPr/>
        </p:nvSpPr>
        <p:spPr>
          <a:xfrm>
            <a:off x="822960" y="4233672"/>
            <a:ext cx="10515600" cy="457200"/>
          </a:xfrm>
          <a:prstGeom prst="rect">
            <a:avLst/>
          </a:prstGeom>
          <a:noFill/>
          <a:ln/>
        </p:spPr>
        <p:txBody>
          <a:bodyPr wrap="square" lIns="0" tIns="0" rIns="0" bIns="0" rtlCol="0" anchor="t"/>
          <a:lstStyle/>
          <a:p>
            <a:pPr indent="0" marL="0">
              <a:buNone/>
            </a:pPr>
            <a:r>
              <a:rPr lang="en-US" sz="1150" dirty="0">
                <a:solidFill>
                  <a:srgbClr val="1A2B31"/>
                </a:solidFill>
                <a:latin typeface="Calibri" pitchFamily="34" charset="0"/>
                <a:ea typeface="Calibri" pitchFamily="34" charset="-122"/>
                <a:cs typeface="Calibri" pitchFamily="34" charset="-120"/>
              </a:rPr>
              <a:t>El equivalente es aritmética sobre el periodo medido, no un pronóstico. Antes de mover dinero hay que descartar que la diferencia venga de público, producto o etapa del embudo.</a:t>
            </a:r>
            <a:endParaRPr lang="en-US" sz="1150" dirty="0"/>
          </a:p>
        </p:txBody>
      </p:sp>
      <p:sp>
        <p:nvSpPr>
          <p:cNvPr id="17" name="Text 15"/>
          <p:cNvSpPr txBox="1"/>
          <p:nvPr/>
        </p:nvSpPr>
        <p:spPr>
          <a:xfrm>
            <a:off x="548640" y="5943600"/>
            <a:ext cx="11064240" cy="274320"/>
          </a:xfrm>
          <a:prstGeom prst="rect">
            <a:avLst/>
          </a:prstGeom>
          <a:noFill/>
          <a:ln/>
        </p:spPr>
        <p:txBody>
          <a:bodyPr wrap="square" lIns="0" tIns="0" rIns="0" bIns="0" rtlCol="0" anchor="ctr"/>
          <a:lstStyle/>
          <a:p>
            <a:pPr indent="0" marL="0">
              <a:buNone/>
            </a:pPr>
            <a:r>
              <a:rPr lang="en-US" sz="1100" i="1" dirty="0">
                <a:solidFill>
                  <a:srgbClr val="5A6B72"/>
                </a:solidFill>
                <a:latin typeface="Calibri" pitchFamily="34" charset="0"/>
                <a:ea typeface="Calibri" pitchFamily="34" charset="-122"/>
                <a:cs typeface="Calibri" pitchFamily="34" charset="-120"/>
              </a:rPr>
              <a:t>Toda cantidad viaja con su aritmética. Si el dato no alcanza, no hay número.</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8"/>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219456"/>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PASO 7 · HUECOS DEL PLAN</a:t>
            </a:r>
            <a:endParaRPr lang="en-US" sz="1100" dirty="0"/>
          </a:p>
        </p:txBody>
      </p:sp>
      <p:sp>
        <p:nvSpPr>
          <p:cNvPr id="3" name="Text 1"/>
          <p:cNvSpPr txBox="1"/>
          <p:nvPr/>
        </p:nvSpPr>
        <p:spPr>
          <a:xfrm>
            <a:off x="548640" y="621792"/>
            <a:ext cx="11064240" cy="566928"/>
          </a:xfrm>
          <a:prstGeom prst="rect">
            <a:avLst/>
          </a:prstGeom>
          <a:noFill/>
          <a:ln/>
        </p:spPr>
        <p:txBody>
          <a:bodyPr wrap="square" lIns="0" tIns="0" rIns="0" bIns="0" rtlCol="0" anchor="ctr"/>
          <a:lstStyle/>
          <a:p>
            <a:pPr indent="0" marL="0">
              <a:buNone/>
            </a:pPr>
            <a:r>
              <a:rPr lang="en-US" sz="3400" b="1" dirty="0">
                <a:solidFill>
                  <a:srgbClr val="0B3C49"/>
                </a:solidFill>
                <a:latin typeface="Cambria" pitchFamily="34" charset="0"/>
                <a:ea typeface="Cambria" pitchFamily="34" charset="-122"/>
                <a:cs typeface="Cambria" pitchFamily="34" charset="-120"/>
              </a:rPr>
              <a:t>Lo que no se pudo cuantificar</a:t>
            </a:r>
            <a:endParaRPr lang="en-US" sz="3400" dirty="0"/>
          </a:p>
        </p:txBody>
      </p:sp>
      <p:sp>
        <p:nvSpPr>
          <p:cNvPr id="4" name="Text 2"/>
          <p:cNvSpPr txBox="1"/>
          <p:nvPr/>
        </p:nvSpPr>
        <p:spPr>
          <a:xfrm>
            <a:off x="548640" y="1298448"/>
            <a:ext cx="11064240" cy="365760"/>
          </a:xfrm>
          <a:prstGeom prst="rect">
            <a:avLst/>
          </a:prstGeom>
          <a:noFill/>
          <a:ln/>
        </p:spPr>
        <p:txBody>
          <a:bodyPr wrap="square" lIns="0" tIns="0" rIns="0" bIns="0" rtlCol="0" anchor="ctr"/>
          <a:lstStyle/>
          <a:p>
            <a:pPr indent="0" marL="0">
              <a:buNone/>
            </a:pPr>
            <a:r>
              <a:rPr lang="en-US" sz="1250" dirty="0">
                <a:solidFill>
                  <a:srgbClr val="5A6B72"/>
                </a:solidFill>
                <a:latin typeface="Calibri" pitchFamily="34" charset="0"/>
                <a:ea typeface="Calibri" pitchFamily="34" charset="-122"/>
                <a:cs typeface="Calibri" pitchFamily="34" charset="-120"/>
              </a:rPr>
              <a:t>Estas decisiones quedan para la mesa. El sistema dice qué dato falta para poder calcularlas, en lugar de estimarlas.</a:t>
            </a:r>
            <a:endParaRPr lang="en-US" sz="1250" dirty="0"/>
          </a:p>
        </p:txBody>
      </p:sp>
      <p:sp>
        <p:nvSpPr>
          <p:cNvPr id="5" name="Shape 3"/>
          <p:cNvSpPr/>
          <p:nvPr/>
        </p:nvSpPr>
        <p:spPr>
          <a:xfrm>
            <a:off x="548640" y="1783080"/>
            <a:ext cx="11064240" cy="1325880"/>
          </a:xfrm>
          <a:prstGeom prst="roundRect">
            <a:avLst>
              <a:gd name="adj" fmla="val 5517"/>
            </a:avLst>
          </a:prstGeom>
          <a:solidFill>
            <a:srgbClr val="FFFFFF"/>
          </a:solidFill>
          <a:ln w="19050">
            <a:solidFill>
              <a:srgbClr val="E8A33D"/>
            </a:solidFill>
            <a:prstDash val="solid"/>
          </a:ln>
        </p:spPr>
      </p:sp>
      <p:sp>
        <p:nvSpPr>
          <p:cNvPr id="6" name="Text 4"/>
          <p:cNvSpPr txBox="1"/>
          <p:nvPr/>
        </p:nvSpPr>
        <p:spPr>
          <a:xfrm>
            <a:off x="822960" y="1911096"/>
            <a:ext cx="5120640" cy="530352"/>
          </a:xfrm>
          <a:prstGeom prst="rect">
            <a:avLst/>
          </a:prstGeom>
          <a:noFill/>
          <a:ln/>
        </p:spPr>
        <p:txBody>
          <a:bodyPr wrap="square" lIns="0" tIns="0" rIns="0" bIns="0" rtlCol="0" anchor="t"/>
          <a:lstStyle/>
          <a:p>
            <a:pPr indent="0" marL="0">
              <a:buNone/>
            </a:pPr>
            <a:r>
              <a:rPr lang="en-US" sz="1350" b="1" dirty="0">
                <a:solidFill>
                  <a:srgbClr val="0B3C49"/>
                </a:solidFill>
                <a:latin typeface="Calibri" pitchFamily="34" charset="0"/>
                <a:ea typeface="Calibri" pitchFamily="34" charset="-122"/>
                <a:cs typeface="Calibri" pitchFamily="34" charset="-120"/>
              </a:rPr>
              <a:t>Cantidades de producción por formato</a:t>
            </a:r>
            <a:endParaRPr lang="en-US" sz="1350" dirty="0"/>
          </a:p>
        </p:txBody>
      </p:sp>
      <p:sp>
        <p:nvSpPr>
          <p:cNvPr id="7" name="Text 5"/>
          <p:cNvSpPr txBox="1"/>
          <p:nvPr/>
        </p:nvSpPr>
        <p:spPr>
          <a:xfrm>
            <a:off x="822960" y="2459736"/>
            <a:ext cx="5120640" cy="530352"/>
          </a:xfrm>
          <a:prstGeom prst="rect">
            <a:avLst/>
          </a:prstGeom>
          <a:noFill/>
          <a:ln/>
        </p:spPr>
        <p:txBody>
          <a:bodyPr wrap="square" lIns="0" tIns="0" rIns="0" bIns="0" rtlCol="0" anchor="t"/>
          <a:lstStyle/>
          <a:p>
            <a:pPr indent="0" marL="0">
              <a:buNone/>
            </a:pPr>
            <a:r>
              <a:rPr lang="en-US" sz="1000" dirty="0">
                <a:solidFill>
                  <a:srgbClr val="5A6B72"/>
                </a:solidFill>
                <a:latin typeface="Calibri" pitchFamily="34" charset="0"/>
                <a:ea typeface="Calibri" pitchFamily="34" charset="-122"/>
                <a:cs typeface="Calibri" pitchFamily="34" charset="-120"/>
              </a:rPr>
              <a:t>El rendimiento por formato no está en los datos de esta corrida. Se leyó a nivel de campaña, y el formato del creativo vive a nivel de anuncio.</a:t>
            </a:r>
            <a:endParaRPr lang="en-US" sz="1000" dirty="0"/>
          </a:p>
        </p:txBody>
      </p:sp>
      <p:sp>
        <p:nvSpPr>
          <p:cNvPr id="8" name="Text 6"/>
          <p:cNvSpPr txBox="1"/>
          <p:nvPr/>
        </p:nvSpPr>
        <p:spPr>
          <a:xfrm>
            <a:off x="6172200" y="1911096"/>
            <a:ext cx="5166360" cy="201168"/>
          </a:xfrm>
          <a:prstGeom prst="rect">
            <a:avLst/>
          </a:prstGeom>
          <a:noFill/>
          <a:ln/>
        </p:spPr>
        <p:txBody>
          <a:bodyPr wrap="square" lIns="0" tIns="0" rIns="0" bIns="0" rtlCol="0" anchor="ctr"/>
          <a:lstStyle/>
          <a:p>
            <a:pPr indent="0" marL="0">
              <a:buNone/>
            </a:pPr>
            <a:r>
              <a:rPr lang="en-US" sz="850" b="1" spc="100" kern="0" dirty="0">
                <a:solidFill>
                  <a:srgbClr val="E8A33D"/>
                </a:solidFill>
                <a:latin typeface="Calibri" pitchFamily="34" charset="0"/>
                <a:ea typeface="Calibri" pitchFamily="34" charset="-122"/>
                <a:cs typeface="Calibri" pitchFamily="34" charset="-120"/>
              </a:rPr>
              <a:t>DATO QUE FALTA</a:t>
            </a:r>
            <a:endParaRPr lang="en-US" sz="850" dirty="0"/>
          </a:p>
        </p:txBody>
      </p:sp>
      <p:sp>
        <p:nvSpPr>
          <p:cNvPr id="9" name="Text 7"/>
          <p:cNvSpPr txBox="1"/>
          <p:nvPr/>
        </p:nvSpPr>
        <p:spPr>
          <a:xfrm>
            <a:off x="6172200" y="2130552"/>
            <a:ext cx="5166360" cy="841248"/>
          </a:xfrm>
          <a:prstGeom prst="rect">
            <a:avLst/>
          </a:prstGeom>
          <a:noFill/>
          <a:ln/>
        </p:spPr>
        <p:txBody>
          <a:bodyPr wrap="square" lIns="0" tIns="0" rIns="0" bIns="0" rtlCol="0" anchor="t"/>
          <a:lstStyle/>
          <a:p>
            <a:pPr indent="0" marL="0">
              <a:buNone/>
            </a:pPr>
            <a:r>
              <a:rPr lang="en-US" sz="1050" dirty="0">
                <a:solidFill>
                  <a:srgbClr val="1A2B31"/>
                </a:solidFill>
                <a:latin typeface="Calibri" pitchFamily="34" charset="0"/>
                <a:ea typeface="Calibri" pitchFamily="34" charset="-122"/>
                <a:cs typeface="Calibri" pitchFamily="34" charset="-120"/>
              </a:rPr>
              <a:t>Consulta a nivel de anuncio (level='ad') incluyendo los campos de creativo, para poder agrupar por tipo de formato y comparar su costo por resultado dentro del mismo indicador.</a:t>
            </a:r>
            <a:endParaRPr lang="en-US" sz="1050" dirty="0"/>
          </a:p>
        </p:txBody>
      </p:sp>
      <p:sp>
        <p:nvSpPr>
          <p:cNvPr id="10" name="Shape 8"/>
          <p:cNvSpPr/>
          <p:nvPr/>
        </p:nvSpPr>
        <p:spPr>
          <a:xfrm>
            <a:off x="548640" y="3246120"/>
            <a:ext cx="11064240" cy="1325880"/>
          </a:xfrm>
          <a:prstGeom prst="roundRect">
            <a:avLst>
              <a:gd name="adj" fmla="val 5517"/>
            </a:avLst>
          </a:prstGeom>
          <a:solidFill>
            <a:srgbClr val="FFFFFF"/>
          </a:solidFill>
          <a:ln w="19050">
            <a:solidFill>
              <a:srgbClr val="E8A33D"/>
            </a:solidFill>
            <a:prstDash val="solid"/>
          </a:ln>
        </p:spPr>
      </p:sp>
      <p:sp>
        <p:nvSpPr>
          <p:cNvPr id="11" name="Text 9"/>
          <p:cNvSpPr txBox="1"/>
          <p:nvPr/>
        </p:nvSpPr>
        <p:spPr>
          <a:xfrm>
            <a:off x="822960" y="3374136"/>
            <a:ext cx="5120640" cy="530352"/>
          </a:xfrm>
          <a:prstGeom prst="rect">
            <a:avLst/>
          </a:prstGeom>
          <a:noFill/>
          <a:ln/>
        </p:spPr>
        <p:txBody>
          <a:bodyPr wrap="square" lIns="0" tIns="0" rIns="0" bIns="0" rtlCol="0" anchor="t"/>
          <a:lstStyle/>
          <a:p>
            <a:pPr indent="0" marL="0">
              <a:buNone/>
            </a:pPr>
            <a:r>
              <a:rPr lang="en-US" sz="1350" b="1" dirty="0">
                <a:solidFill>
                  <a:srgbClr val="0B3C49"/>
                </a:solidFill>
                <a:latin typeface="Calibri" pitchFamily="34" charset="0"/>
                <a:ea typeface="Calibri" pitchFamily="34" charset="-122"/>
                <a:cs typeface="Calibri" pitchFamily="34" charset="-120"/>
              </a:rPr>
              <a:t>Decidir posición frente al mensaje dominante del competidor</a:t>
            </a:r>
            <a:endParaRPr lang="en-US" sz="1350" dirty="0"/>
          </a:p>
        </p:txBody>
      </p:sp>
      <p:sp>
        <p:nvSpPr>
          <p:cNvPr id="12" name="Text 10"/>
          <p:cNvSpPr txBox="1"/>
          <p:nvPr/>
        </p:nvSpPr>
        <p:spPr>
          <a:xfrm>
            <a:off x="822960" y="3922776"/>
            <a:ext cx="5120640" cy="530352"/>
          </a:xfrm>
          <a:prstGeom prst="rect">
            <a:avLst/>
          </a:prstGeom>
          <a:noFill/>
          <a:ln/>
        </p:spPr>
        <p:txBody>
          <a:bodyPr wrap="square" lIns="0" tIns="0" rIns="0" bIns="0" rtlCol="0" anchor="t"/>
          <a:lstStyle/>
          <a:p>
            <a:pPr indent="0" marL="0">
              <a:buNone/>
            </a:pPr>
            <a:r>
              <a:rPr lang="en-US" sz="1000" dirty="0">
                <a:solidFill>
                  <a:srgbClr val="5A6B72"/>
                </a:solidFill>
                <a:latin typeface="Calibri" pitchFamily="34" charset="0"/>
                <a:ea typeface="Calibri" pitchFamily="34" charset="-122"/>
                <a:cs typeface="Calibri" pitchFamily="34" charset="-120"/>
              </a:rPr>
              <a:t>La decisión de ángulo es estratégica y humana. El dato sustenta la pregunta, no la respuesta.</a:t>
            </a:r>
            <a:endParaRPr lang="en-US" sz="1000" dirty="0"/>
          </a:p>
        </p:txBody>
      </p:sp>
      <p:sp>
        <p:nvSpPr>
          <p:cNvPr id="13" name="Text 11"/>
          <p:cNvSpPr txBox="1"/>
          <p:nvPr/>
        </p:nvSpPr>
        <p:spPr>
          <a:xfrm>
            <a:off x="6172200" y="3374136"/>
            <a:ext cx="5166360" cy="201168"/>
          </a:xfrm>
          <a:prstGeom prst="rect">
            <a:avLst/>
          </a:prstGeom>
          <a:noFill/>
          <a:ln/>
        </p:spPr>
        <p:txBody>
          <a:bodyPr wrap="square" lIns="0" tIns="0" rIns="0" bIns="0" rtlCol="0" anchor="ctr"/>
          <a:lstStyle/>
          <a:p>
            <a:pPr indent="0" marL="0">
              <a:buNone/>
            </a:pPr>
            <a:r>
              <a:rPr lang="en-US" sz="850" b="1" spc="100" kern="0" dirty="0">
                <a:solidFill>
                  <a:srgbClr val="E8A33D"/>
                </a:solidFill>
                <a:latin typeface="Calibri" pitchFamily="34" charset="0"/>
                <a:ea typeface="Calibri" pitchFamily="34" charset="-122"/>
                <a:cs typeface="Calibri" pitchFamily="34" charset="-120"/>
              </a:rPr>
              <a:t>DATO QUE FALTA</a:t>
            </a:r>
            <a:endParaRPr lang="en-US" sz="850" dirty="0"/>
          </a:p>
        </p:txBody>
      </p:sp>
      <p:sp>
        <p:nvSpPr>
          <p:cNvPr id="14" name="Text 12"/>
          <p:cNvSpPr txBox="1"/>
          <p:nvPr/>
        </p:nvSpPr>
        <p:spPr>
          <a:xfrm>
            <a:off x="6172200" y="3593592"/>
            <a:ext cx="5166360" cy="841248"/>
          </a:xfrm>
          <a:prstGeom prst="rect">
            <a:avLst/>
          </a:prstGeom>
          <a:noFill/>
          <a:ln/>
        </p:spPr>
        <p:txBody>
          <a:bodyPr wrap="square" lIns="0" tIns="0" rIns="0" bIns="0" rtlCol="0" anchor="t"/>
          <a:lstStyle/>
          <a:p>
            <a:pPr indent="0" marL="0">
              <a:buNone/>
            </a:pPr>
            <a:r>
              <a:rPr lang="en-US" sz="1050" dirty="0">
                <a:solidFill>
                  <a:srgbClr val="1A2B31"/>
                </a:solidFill>
                <a:latin typeface="Calibri" pitchFamily="34" charset="0"/>
                <a:ea typeface="Calibri" pitchFamily="34" charset="-122"/>
                <a:cs typeface="Calibri" pitchFamily="34" charset="-120"/>
              </a:rPr>
              <a:t>Para cuantificar cuántas piezas dedicar a cada ángulo se necesitaría rendimiento propio por ángulo, que hoy no se captura de forma estructurada.</a:t>
            </a:r>
            <a:endParaRPr lang="en-US" sz="1050" dirty="0"/>
          </a:p>
        </p:txBody>
      </p:sp>
      <p:sp>
        <p:nvSpPr>
          <p:cNvPr id="15" name="Shape 13"/>
          <p:cNvSpPr/>
          <p:nvPr/>
        </p:nvSpPr>
        <p:spPr>
          <a:xfrm>
            <a:off x="548640" y="4709160"/>
            <a:ext cx="11064240" cy="1325880"/>
          </a:xfrm>
          <a:prstGeom prst="roundRect">
            <a:avLst>
              <a:gd name="adj" fmla="val 5517"/>
            </a:avLst>
          </a:prstGeom>
          <a:solidFill>
            <a:srgbClr val="FFFFFF"/>
          </a:solidFill>
          <a:ln w="19050">
            <a:solidFill>
              <a:srgbClr val="E8A33D"/>
            </a:solidFill>
            <a:prstDash val="solid"/>
          </a:ln>
        </p:spPr>
      </p:sp>
      <p:sp>
        <p:nvSpPr>
          <p:cNvPr id="16" name="Text 14"/>
          <p:cNvSpPr txBox="1"/>
          <p:nvPr/>
        </p:nvSpPr>
        <p:spPr>
          <a:xfrm>
            <a:off x="822960" y="4837176"/>
            <a:ext cx="5120640" cy="530352"/>
          </a:xfrm>
          <a:prstGeom prst="rect">
            <a:avLst/>
          </a:prstGeom>
          <a:noFill/>
          <a:ln/>
        </p:spPr>
        <p:txBody>
          <a:bodyPr wrap="square" lIns="0" tIns="0" rIns="0" bIns="0" rtlCol="0" anchor="t"/>
          <a:lstStyle/>
          <a:p>
            <a:pPr indent="0" marL="0">
              <a:buNone/>
            </a:pPr>
            <a:r>
              <a:rPr lang="en-US" sz="1350" b="1" dirty="0">
                <a:solidFill>
                  <a:srgbClr val="0B3C49"/>
                </a:solidFill>
                <a:latin typeface="Calibri" pitchFamily="34" charset="0"/>
                <a:ea typeface="Calibri" pitchFamily="34" charset="-122"/>
                <a:cs typeface="Calibri" pitchFamily="34" charset="-120"/>
              </a:rPr>
              <a:t>SV sin disputa medida</a:t>
            </a:r>
            <a:endParaRPr lang="en-US" sz="1350" dirty="0"/>
          </a:p>
        </p:txBody>
      </p:sp>
      <p:sp>
        <p:nvSpPr>
          <p:cNvPr id="17" name="Text 15"/>
          <p:cNvSpPr txBox="1"/>
          <p:nvPr/>
        </p:nvSpPr>
        <p:spPr>
          <a:xfrm>
            <a:off x="822960" y="5385816"/>
            <a:ext cx="5120640" cy="530352"/>
          </a:xfrm>
          <a:prstGeom prst="rect">
            <a:avLst/>
          </a:prstGeom>
          <a:noFill/>
          <a:ln/>
        </p:spPr>
        <p:txBody>
          <a:bodyPr wrap="square" lIns="0" tIns="0" rIns="0" bIns="0" rtlCol="0" anchor="t"/>
          <a:lstStyle/>
          <a:p>
            <a:pPr indent="0" marL="0">
              <a:buNone/>
            </a:pPr>
            <a:r>
              <a:rPr lang="en-US" sz="1000" dirty="0">
                <a:solidFill>
                  <a:srgbClr val="5A6B72"/>
                </a:solidFill>
                <a:latin typeface="Calibri" pitchFamily="34" charset="0"/>
                <a:ea typeface="Calibri" pitchFamily="34" charset="-122"/>
                <a:cs typeface="Calibri" pitchFamily="34" charset="-120"/>
              </a:rPr>
              <a:t>Cuánto aumentar depende de la capacidad de atención comercial del mercado, que no es un dato de pauta.</a:t>
            </a:r>
            <a:endParaRPr lang="en-US" sz="1000" dirty="0"/>
          </a:p>
        </p:txBody>
      </p:sp>
      <p:sp>
        <p:nvSpPr>
          <p:cNvPr id="18" name="Text 16"/>
          <p:cNvSpPr txBox="1"/>
          <p:nvPr/>
        </p:nvSpPr>
        <p:spPr>
          <a:xfrm>
            <a:off x="6172200" y="4837176"/>
            <a:ext cx="5166360" cy="201168"/>
          </a:xfrm>
          <a:prstGeom prst="rect">
            <a:avLst/>
          </a:prstGeom>
          <a:noFill/>
          <a:ln/>
        </p:spPr>
        <p:txBody>
          <a:bodyPr wrap="square" lIns="0" tIns="0" rIns="0" bIns="0" rtlCol="0" anchor="ctr"/>
          <a:lstStyle/>
          <a:p>
            <a:pPr indent="0" marL="0">
              <a:buNone/>
            </a:pPr>
            <a:r>
              <a:rPr lang="en-US" sz="850" b="1" spc="100" kern="0" dirty="0">
                <a:solidFill>
                  <a:srgbClr val="E8A33D"/>
                </a:solidFill>
                <a:latin typeface="Calibri" pitchFamily="34" charset="0"/>
                <a:ea typeface="Calibri" pitchFamily="34" charset="-122"/>
                <a:cs typeface="Calibri" pitchFamily="34" charset="-120"/>
              </a:rPr>
              <a:t>DATO QUE FALTA</a:t>
            </a:r>
            <a:endParaRPr lang="en-US" sz="850" dirty="0"/>
          </a:p>
        </p:txBody>
      </p:sp>
      <p:sp>
        <p:nvSpPr>
          <p:cNvPr id="19" name="Text 17"/>
          <p:cNvSpPr txBox="1"/>
          <p:nvPr/>
        </p:nvSpPr>
        <p:spPr>
          <a:xfrm>
            <a:off x="6172200" y="5056632"/>
            <a:ext cx="5166360" cy="841248"/>
          </a:xfrm>
          <a:prstGeom prst="rect">
            <a:avLst/>
          </a:prstGeom>
          <a:noFill/>
          <a:ln/>
        </p:spPr>
        <p:txBody>
          <a:bodyPr wrap="square" lIns="0" tIns="0" rIns="0" bIns="0" rtlCol="0" anchor="t"/>
          <a:lstStyle/>
          <a:p>
            <a:pPr indent="0" marL="0">
              <a:buNone/>
            </a:pPr>
            <a:r>
              <a:rPr lang="en-US" sz="1050" dirty="0">
                <a:solidFill>
                  <a:srgbClr val="1A2B31"/>
                </a:solidFill>
                <a:latin typeface="Calibri" pitchFamily="34" charset="0"/>
                <a:ea typeface="Calibri" pitchFamily="34" charset="-122"/>
                <a:cs typeface="Calibri" pitchFamily="34" charset="-120"/>
              </a:rPr>
              <a:t>Capacidad de seguimiento del equipo comercial en ese mercado: cuántos leads por semana puede atender sin degradar la tasa de contacto.</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3C49"/>
        </a:solidFill>
      </p:bgPr>
    </p:bg>
    <p:spTree>
      <p:nvGrpSpPr>
        <p:cNvPr id="1" name=""/>
        <p:cNvGrpSpPr/>
        <p:nvPr/>
      </p:nvGrpSpPr>
      <p:grpSpPr>
        <a:xfrm>
          <a:off x="0" y="0"/>
          <a:ext cx="0" cy="0"/>
          <a:chOff x="0" y="0"/>
          <a:chExt cx="0" cy="0"/>
        </a:xfrm>
      </p:grpSpPr>
      <p:sp>
        <p:nvSpPr>
          <p:cNvPr id="2" name="Text 0"/>
          <p:cNvSpPr txBox="1"/>
          <p:nvPr/>
        </p:nvSpPr>
        <p:spPr>
          <a:xfrm>
            <a:off x="548640" y="1280160"/>
            <a:ext cx="11064240" cy="274320"/>
          </a:xfrm>
          <a:prstGeom prst="rect">
            <a:avLst/>
          </a:prstGeom>
          <a:noFill/>
          <a:ln/>
        </p:spPr>
        <p:txBody>
          <a:bodyPr wrap="square" lIns="0" tIns="0" rIns="0" bIns="0" rtlCol="0" anchor="ctr"/>
          <a:lstStyle/>
          <a:p>
            <a:pPr indent="0" marL="0">
              <a:buNone/>
            </a:pPr>
            <a:r>
              <a:rPr lang="en-US" sz="1200" b="1" spc="300" kern="0" dirty="0">
                <a:solidFill>
                  <a:srgbClr val="02C39A"/>
                </a:solidFill>
                <a:latin typeface="Calibri" pitchFamily="34" charset="0"/>
                <a:ea typeface="Calibri" pitchFamily="34" charset="-122"/>
                <a:cs typeface="Calibri" pitchFamily="34" charset="-120"/>
              </a:rPr>
              <a:t>TRAZABILIDAD</a:t>
            </a:r>
            <a:endParaRPr lang="en-US" sz="1200" dirty="0"/>
          </a:p>
        </p:txBody>
      </p:sp>
      <p:sp>
        <p:nvSpPr>
          <p:cNvPr id="3" name="Text 1"/>
          <p:cNvSpPr txBox="1"/>
          <p:nvPr/>
        </p:nvSpPr>
        <p:spPr>
          <a:xfrm>
            <a:off x="548640" y="1600200"/>
            <a:ext cx="11064240" cy="6400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De dónde salió cada número</a:t>
            </a:r>
            <a:endParaRPr lang="en-US" sz="3800" dirty="0"/>
          </a:p>
        </p:txBody>
      </p:sp>
      <p:sp>
        <p:nvSpPr>
          <p:cNvPr id="4" name="Text 2"/>
          <p:cNvSpPr txBox="1"/>
          <p:nvPr/>
        </p:nvSpPr>
        <p:spPr>
          <a:xfrm>
            <a:off x="548640" y="2468880"/>
            <a:ext cx="7315200" cy="2011680"/>
          </a:xfrm>
          <a:prstGeom prst="rect">
            <a:avLst/>
          </a:prstGeom>
          <a:noFill/>
          <a:ln/>
        </p:spPr>
        <p:txBody>
          <a:bodyPr wrap="square" lIns="0" tIns="0" rIns="0" bIns="0" rtlCol="0" anchor="t"/>
          <a:lstStyle/>
          <a:p>
            <a:pPr marL="342900" indent="-342900">
              <a:spcAft>
                <a:spcPts val="1000"/>
              </a:spcAft>
              <a:buSzPct val="100000"/>
              <a:buChar char="•"/>
            </a:pPr>
            <a:r>
              <a:rPr lang="en-US" sz="1250" dirty="0">
                <a:solidFill>
                  <a:srgbClr val="FFFFFF"/>
                </a:solidFill>
                <a:latin typeface="Calibri" pitchFamily="34" charset="0"/>
                <a:ea typeface="Calibri" pitchFamily="34" charset="-122"/>
                <a:cs typeface="Calibri" pitchFamily="34" charset="-120"/>
              </a:rPr>
              <a:t>Ad Library, SV, foto del 2026-08-27</a:t>
            </a:r>
            <a:endParaRPr lang="en-US" sz="1250" dirty="0"/>
          </a:p>
          <a:p>
            <a:pPr marL="342900" indent="-342900">
              <a:spcAft>
                <a:spcPts val="1000"/>
              </a:spcAft>
              <a:buSzPct val="100000"/>
              <a:buChar char="•"/>
            </a:pPr>
            <a:r>
              <a:rPr lang="en-US" sz="1250" dirty="0">
                <a:solidFill>
                  <a:srgbClr val="FFFFFF"/>
                </a:solidFill>
                <a:latin typeface="Calibri" pitchFamily="34" charset="0"/>
                <a:ea typeface="Calibri" pitchFamily="34" charset="-122"/>
                <a:cs typeface="Calibri" pitchFamily="34" charset="-120"/>
              </a:rPr>
              <a:t>adlibrary_paggo_GT.json</a:t>
            </a:r>
            <a:endParaRPr lang="en-US" sz="1250" dirty="0"/>
          </a:p>
          <a:p>
            <a:pPr marL="342900" indent="-342900">
              <a:spcAft>
                <a:spcPts val="1000"/>
              </a:spcAft>
              <a:buSzPct val="100000"/>
              <a:buChar char="•"/>
            </a:pPr>
            <a:r>
              <a:rPr lang="en-US" sz="1250" dirty="0">
                <a:solidFill>
                  <a:srgbClr val="FFFFFF"/>
                </a:solidFill>
                <a:latin typeface="Calibri" pitchFamily="34" charset="0"/>
                <a:ea typeface="Calibri" pitchFamily="34" charset="-122"/>
                <a:cs typeface="Calibri" pitchFamily="34" charset="-120"/>
              </a:rPr>
              <a:t>meta_campanas_por_pais.json · 2026-08-01 a 2026-08-24</a:t>
            </a:r>
            <a:endParaRPr lang="en-US" sz="1250" dirty="0"/>
          </a:p>
        </p:txBody>
      </p:sp>
      <p:sp>
        <p:nvSpPr>
          <p:cNvPr id="5" name="Text 3"/>
          <p:cNvSpPr txBox="1"/>
          <p:nvPr/>
        </p:nvSpPr>
        <p:spPr>
          <a:xfrm>
            <a:off x="548640" y="4663440"/>
            <a:ext cx="7315200" cy="640080"/>
          </a:xfrm>
          <a:prstGeom prst="rect">
            <a:avLst/>
          </a:prstGeom>
          <a:noFill/>
          <a:ln/>
        </p:spPr>
        <p:txBody>
          <a:bodyPr wrap="square" lIns="0" tIns="0" rIns="0" bIns="0" rtlCol="0" anchor="t"/>
          <a:lstStyle/>
          <a:p>
            <a:pPr indent="0" marL="0">
              <a:buNone/>
            </a:pPr>
            <a:r>
              <a:rPr lang="en-US" sz="1150" dirty="0">
                <a:solidFill>
                  <a:srgbClr val="9DB7BF"/>
                </a:solidFill>
                <a:latin typeface="Calibri" pitchFamily="34" charset="0"/>
                <a:ea typeface="Calibri" pitchFamily="34" charset="-122"/>
                <a:cs typeface="Calibri" pitchFamily="34" charset="-120"/>
              </a:rPr>
              <a:t>Las respuestas crudas de cada consulta quedan guardadas sin editar junto a esta corrida. Cualquier cifra del deck se puede seguir hasta el JSON que la produjo.</a:t>
            </a:r>
            <a:endParaRPr lang="en-US" sz="1150" dirty="0"/>
          </a:p>
        </p:txBody>
      </p:sp>
      <p:sp>
        <p:nvSpPr>
          <p:cNvPr id="6" name="Shape 4"/>
          <p:cNvSpPr/>
          <p:nvPr/>
        </p:nvSpPr>
        <p:spPr>
          <a:xfrm>
            <a:off x="8138160" y="2468880"/>
            <a:ext cx="3474720" cy="2148840"/>
          </a:xfrm>
          <a:prstGeom prst="roundRect">
            <a:avLst>
              <a:gd name="adj" fmla="val 3404"/>
            </a:avLst>
          </a:prstGeom>
          <a:solidFill>
            <a:srgbClr val="FFFFFF">
              <a:alpha val="8000"/>
            </a:srgbClr>
          </a:solidFill>
          <a:ln w="19050">
            <a:solidFill>
              <a:srgbClr val="02C39A"/>
            </a:solidFill>
            <a:prstDash val="solid"/>
          </a:ln>
        </p:spPr>
      </p:sp>
      <p:sp>
        <p:nvSpPr>
          <p:cNvPr id="7" name="Text 5"/>
          <p:cNvSpPr txBox="1"/>
          <p:nvPr/>
        </p:nvSpPr>
        <p:spPr>
          <a:xfrm>
            <a:off x="8366760" y="2697480"/>
            <a:ext cx="2926080" cy="219456"/>
          </a:xfrm>
          <a:prstGeom prst="rect">
            <a:avLst/>
          </a:prstGeom>
          <a:noFill/>
          <a:ln/>
        </p:spPr>
        <p:txBody>
          <a:bodyPr wrap="square" lIns="0" tIns="0" rIns="0" bIns="0" rtlCol="0" anchor="ctr"/>
          <a:lstStyle/>
          <a:p>
            <a:pPr indent="0" marL="0">
              <a:buNone/>
            </a:pPr>
            <a:r>
              <a:rPr lang="en-US" sz="900" b="1" spc="100" kern="0" dirty="0">
                <a:solidFill>
                  <a:srgbClr val="02C39A"/>
                </a:solidFill>
                <a:latin typeface="Calibri" pitchFamily="34" charset="0"/>
                <a:ea typeface="Calibri" pitchFamily="34" charset="-122"/>
                <a:cs typeface="Calibri" pitchFamily="34" charset="-120"/>
              </a:rPr>
              <a:t>PERIODO</a:t>
            </a:r>
            <a:endParaRPr lang="en-US" sz="900" dirty="0"/>
          </a:p>
        </p:txBody>
      </p:sp>
      <p:sp>
        <p:nvSpPr>
          <p:cNvPr id="8" name="Text 6"/>
          <p:cNvSpPr txBox="1"/>
          <p:nvPr/>
        </p:nvSpPr>
        <p:spPr>
          <a:xfrm>
            <a:off x="8366760" y="2926080"/>
            <a:ext cx="2926080" cy="45720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2026-08-01 a 2026-08-24</a:t>
            </a:r>
            <a:endParaRPr lang="en-US" sz="1400" dirty="0"/>
          </a:p>
        </p:txBody>
      </p:sp>
      <p:sp>
        <p:nvSpPr>
          <p:cNvPr id="9" name="Text 7"/>
          <p:cNvSpPr txBox="1"/>
          <p:nvPr/>
        </p:nvSpPr>
        <p:spPr>
          <a:xfrm>
            <a:off x="8366760" y="3456432"/>
            <a:ext cx="2926080" cy="219456"/>
          </a:xfrm>
          <a:prstGeom prst="rect">
            <a:avLst/>
          </a:prstGeom>
          <a:noFill/>
          <a:ln/>
        </p:spPr>
        <p:txBody>
          <a:bodyPr wrap="square" lIns="0" tIns="0" rIns="0" bIns="0" rtlCol="0" anchor="ctr"/>
          <a:lstStyle/>
          <a:p>
            <a:pPr indent="0" marL="0">
              <a:buNone/>
            </a:pPr>
            <a:r>
              <a:rPr lang="en-US" sz="900" b="1" spc="100" kern="0" dirty="0">
                <a:solidFill>
                  <a:srgbClr val="02C39A"/>
                </a:solidFill>
                <a:latin typeface="Calibri" pitchFamily="34" charset="0"/>
                <a:ea typeface="Calibri" pitchFamily="34" charset="-122"/>
                <a:cs typeface="Calibri" pitchFamily="34" charset="-120"/>
              </a:rPr>
              <a:t>RANGO CERRADO</a:t>
            </a:r>
            <a:endParaRPr lang="en-US" sz="900" dirty="0"/>
          </a:p>
        </p:txBody>
      </p:sp>
      <p:sp>
        <p:nvSpPr>
          <p:cNvPr id="10" name="Text 8"/>
          <p:cNvSpPr txBox="1"/>
          <p:nvPr/>
        </p:nvSpPr>
        <p:spPr>
          <a:xfrm>
            <a:off x="8366760" y="3675888"/>
            <a:ext cx="2926080" cy="777240"/>
          </a:xfrm>
          <a:prstGeom prst="rect">
            <a:avLst/>
          </a:prstGeom>
          <a:noFill/>
          <a:ln/>
        </p:spPr>
        <p:txBody>
          <a:bodyPr wrap="square" lIns="0" tIns="0" rIns="0" bIns="0" rtlCol="0" anchor="t"/>
          <a:lstStyle/>
          <a:p>
            <a:pPr indent="0" marL="0">
              <a:buNone/>
            </a:pPr>
            <a:r>
              <a:rPr lang="en-US" sz="1050" dirty="0">
                <a:solidFill>
                  <a:srgbClr val="9DB7BF"/>
                </a:solidFill>
                <a:latin typeface="Calibri" pitchFamily="34" charset="0"/>
                <a:ea typeface="Calibri" pitchFamily="34" charset="-122"/>
                <a:cs typeface="Calibri" pitchFamily="34" charset="-120"/>
              </a:rPr>
              <a:t>Nunca un preset móvil: el mismo reporte debe dar el mismo número mañana.</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2026-08-27T16:08:36Z</dcterms:created>
  <dcterms:modified xsi:type="dcterms:W3CDTF">2026-08-27T16:08:36Z</dcterms:modified>
</cp:coreProperties>
</file>